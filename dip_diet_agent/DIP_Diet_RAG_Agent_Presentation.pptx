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a:lstStyle>
            <a:lvl1pPr algn="r">
              <a:defRPr sz="1200"/>
            </a:lvl1pPr>
          </a:lstStyle>
          <a:p>
            <a:fld id="{B1E4B0A2-5C8E-4E5F-9C1D-2F3A4B5C6D71}" type="datetimeFigureOut">
              <a:rPr lang="en-US"/>
              <a:t>10/14/2026</a:t>
            </a:fld>
            <a:endParaRPr lang="en-US"/>
          </a:p>
        </p:txBody>
      </p:sp>
      <p:sp>
        <p:nvSpPr>
          <p:cNvPr id="4" name="Slide Image Placeholder 3"/>
          <p:cNvSpPr>
            <a:spLocks noGrp="1" noRot="1" noChangeAspect="1"/>
          </p:cNvSpPr>
          <p:nvPr>
            <p:ph type="sldImg" idx="2"/>
          </p:nvPr>
        </p:nvSpPr>
        <p:spPr>
          <a:xfrm>
            <a:off x="1143000" y="685800"/>
            <a:ext cx="4572000" cy="2571750"/>
          </a:xfrm>
          <a:prstGeom prst="rect">
            <a:avLst/>
          </a:prstGeom>
          <a:noFill/>
          <a:ln w="12700">
            <a:solidFill>
              <a:prstClr val="black"/>
            </a:solidFill>
          </a:ln>
        </p:spPr>
        <p:txBody>
          <a:bodyPr/>
          <a:lstStyle/>
          <a:p>
            <a:endParaRPr lang="en-US"/>
          </a:p>
        </p:txBody>
      </p:sp>
      <p:sp>
        <p:nvSpPr>
          <p:cNvPr id="5" name="Notes Placeholder 4"/>
          <p:cNvSpPr>
            <a:spLocks noGrp="1"/>
          </p:cNvSpPr>
          <p:nvPr>
            <p:ph type="body" sz="quarter" idx="3"/>
          </p:nvPr>
        </p:nvSpPr>
        <p:spPr>
          <a:xfrm>
            <a:off x="685800" y="3429000"/>
            <a:ext cx="5486400" cy="4114800"/>
          </a:xfrm>
          <a:prstGeom prst="rect">
            <a:avLst/>
          </a:prstGeom>
        </p:spPr>
        <p:txBody>
          <a:bodyPr vert="horz" lIns="91440" tIns="45720" rIns="91440" bIns="45720"/>
          <a:lstStyle/>
          <a:p>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a:lstStyle>
            <a:lvl1pPr algn="r">
              <a:defRPr sz="1200"/>
            </a:lvl1pPr>
          </a:lstStyle>
          <a:p>
            <a:fld id="{B1E4B0A2-5C8E-4E5F-9C1D-2F3A4B5C6D72}" type="slidenum">
              <a:rPr lang="en-US"/>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rPr lang="en-US"/>
              <a:t>Welcome slide. Project: DIP Diet RAG Agent — a personalized nutrition assistant using Retrieval-Augmented Generation with IBM Granite LLM.</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rPr lang="en-US"/>
              <a:t>This agenda covers 20 topics across 25 slides. The presentation distinguishes completed features (marked DONE) from planned features (marked PLANNED).</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rPr lang="en-US"/>
              <a:t>The core problem: generic nutrition apps do not account for individual user profiles, cultural context, or verified medical-nutrition documents. This project addresses all three gaps.</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rPr lang="en-US"/>
              <a:t>Be clear about what is done vs planned. All core features are implemented and tested. IBM Granite live LLM requires real WatsonX credentials.</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rPr lang="en-US"/>
              <a:t>IBM Bob was used throughout development. IBM Granite and WatsonX.ai are fully integrated in code; only live credentials are needed to activate them. IBM Cloud deployment is designed but not yet executed.</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rPr lang="en-US"/>
              <a:t>The architecture is a 3-layer design: SPA frontend, FastAPI backend with 10 REST endpoints, and a RAG pipeline split into a local vector store and cloud LLM. Data stays local except queries sent to WatsonX.</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rPr lang="en-US"/>
              <a:t>SDLC Phases 1-5 are complete. Phase 6 (deployment) and Phase 7 (maintenance) are planned but require IBM Cloud account setup and live credentials.</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rPr lang="en-US"/>
              <a:t>The knowledge base has 5 real nutrition text files. Chunking uses LangChain's RecursiveCharacterTextSplitter with 512-token chunks and 64-token overlap. The ingest pipeline is idempotent.</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rPr lang="en-US"/>
              <a:t>all-MiniLM-L6-v2 is a 384-dimension embedding model. ChromaDB uses cosine similarity with HNSW index. The DB is local and rebuilt each startup from the knowledge base documents.</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rPr lang="en-US"/>
              <a:t>The 7-step RAG workflow: (1) receive query, (2) safety check, (3) embed query locally, (4) cosine search ChromaDB top-4, (5) build prompt with profile context + history + retrieved chunks, (6) IBM Granite generates answer, (7) response with citations returned.</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rPr lang="en-US"/>
              <a:t>Semantic search is a key differentiator. Unlike keyword search it understands meaning, allowing the system to match questions to relevant document passages even when the exact words differ.</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rPr lang="en-US"/>
              <a:t>The chat feature is fully implemented and tested. It uses RAG to ground answers in real documents. The last 4 conversation turns are included in the prompt for follow-up context. In Demo Mode a rule-based response is used.</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rPr lang="en-US"/>
              <a:t>The sample daily plan shown is actual output from the Demo Mode system running locally. Calories are computed from TDEE. The meal library supports vegetarian, vegan, non-vegetarian, jain, and gluten-free preferences.</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rPr lang="en-US"/>
              <a:t>The shopping list is derived from the meal plan. It respects allergens (test_shopping_list_excludes_allergens passes). The list is categorized and includes practical shopping tips.</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rPr lang="en-US"/>
              <a:t>TDEE uses Mifflin-St Jeor equation. Activity multipliers: sedentary=1.2, lightly_active=1.375, moderately_active=1.55, very_active=1.725. Test test_calculate_tdee_female confirms 1400-3500 kcal range.</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rPr lang="en-US"/>
              <a:t>The substitution engine uses RAG to retrieve substitution-specific chunks, then generates a personalized response. User allergies are injected into the profile context so suggestions stay safe.</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rPr lang="en-US"/>
              <a:t>The SPA has 5 main tabs: Profile, Chat, Meal Plan, Shopping List, and Dashboard. No JavaScript framework is used — it runs in any modern browser without a build step.</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rPr lang="en-US"/>
              <a:t>10 API endpoints total. All are implemented and accessible at http://localhost:8000. The Swagger UI at /api/docs allows interactive testing of every endpoint.</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rPr lang="en-US"/>
              <a:t>Safety guardrails are implemented as a keyword filter in config.py. The list covers 18 sensitive terms. The test class TestRAGPipeline::test_safety_check_unsafe_query verifies this works correctly.</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rPr lang="en-US"/>
              <a:t>Security confirmed: git show HEAD:.env.example shows only placeholder values. User profiles and ChromaDB are gitignored. SECURITY.md and PRIVACY.md are committed to the repository.</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rPr lang="en-US"/>
              <a:t>All 25 tests pass. Tests cover configuration, Pydantic data models, TDEE calculation, meal plan generation, allergen filtering, shopping list generation, RAG safety guardrails, document ingestion, and LLM demo mode. Actual test run confirmed during project build.</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rPr lang="en-US"/>
              <a:t>Be honest about limitations. The biggest one is that IBM Granite LLM requires live credentials. All other limitations are known trade-offs for a college demo project.</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rPr lang="en-US"/>
              <a:t>Future scope is realistic and builds on the existing architecture. The most important next step is activating IBM Granite LLM with real credentials and deploying to IBM Cloud.</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rPr lang="en-US"/>
              <a:t>Project summary slide. Emphasize that IBM Bob was used throughout development. IBM Granite is fully integrated in code and will activate with real credentials. The project demonstrates a production-quality RAG architecture.</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rPr lang="en-US"/>
              <a:t>Closing slide. Invite questions. Demo the running application at localhost:8000 if possible. Emphasize the full RAG pipeline and IBM technology integration.</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p:cNvSpPr>
            <a:spLocks noGrp="1"/>
          </p:cNvSpPr>
          <p:nvPr>
            <p:ph type="ctrTitle"/>
          </p:nvPr>
        </p:nvSpPr>
        <p:spPr>
          <a:xfrm>
            <a:off x="685800" y="2130425"/>
            <a:ext cx="7772400" cy="1470025"/>
          </a:xfrm>
        </p:spPr>
        <p:txBody>
          <a:bodyPr/>
          <a:lstStyle/>
          <a:p>
            <a:endParaRPr lang="en-US"/>
          </a:p>
        </p:txBody>
      </p:sp>
      <p:sp>
        <p:nvSpPr>
          <p:cNvPr id="3" name="Subtitle"/>
          <p:cNvSpPr>
            <a:spLocks noGrp="1"/>
          </p:cNvSpPr>
          <p:nvPr>
            <p:ph type="subTitle" idx="1"/>
          </p:nvPr>
        </p:nvSpPr>
        <p:spPr>
          <a:xfrm>
            <a:off x="1371600" y="3886200"/>
            <a:ext cx="6400800" cy="1752600"/>
          </a:xfrm>
        </p:spPr>
        <p:txBody>
          <a:bodyPr/>
          <a:lstStyle/>
          <a:p>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Tx">
  <p:cSld name="Title and Content">
    <p:spTree>
      <p:nvGrpSpPr>
        <p:cNvPr id="1" name=""/>
        <p:cNvGrpSpPr/>
        <p:nvPr/>
      </p:nvGrpSpPr>
      <p:grpSpPr>
        <a:xfrm>
          <a:off x="0" y="0"/>
          <a:ext cx="0" cy="0"/>
          <a:chOff x="0" y="0"/>
          <a:chExt cx="0" cy="0"/>
        </a:xfrm>
      </p:grpSpPr>
      <p:sp>
        <p:nvSpPr>
          <p:cNvPr id="2" name="Title"/>
          <p:cNvSpPr>
            <a:spLocks noGrp="1"/>
          </p:cNvSpPr>
          <p:nvPr>
            <p:ph type="title"/>
          </p:nvPr>
        </p:nvSpPr>
        <p:spPr>
          <a:xfrm>
            <a:off x="838200" y="365125"/>
            <a:ext cx="10515600" cy="1325563"/>
          </a:xfrm>
        </p:spPr>
        <p:txBody>
          <a:bodyPr/>
          <a:lstStyle/>
          <a:p>
            <a:endParaRPr lang="en-US"/>
          </a:p>
        </p:txBody>
      </p:sp>
      <p:sp>
        <p:nvSpPr>
          <p:cNvPr id="3" name="Content"/>
          <p:cNvSpPr>
            <a:spLocks noGrp="1"/>
          </p:cNvSpPr>
          <p:nvPr>
            <p:ph type="body" idx="1"/>
          </p:nvPr>
        </p:nvSpPr>
        <p:spPr>
          <a:xfrm>
            <a:off x="838200" y="1825625"/>
            <a:ext cx="10515600" cy="4351338"/>
          </a:xfrm>
        </p:spPr>
        <p:txBody>
          <a:bodyPr/>
          <a:lstStyle/>
          <a:p>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ColTx">
  <p:cSld name="Two Content">
    <p:spTree>
      <p:nvGrpSpPr>
        <p:cNvPr id="1" name=""/>
        <p:cNvGrpSpPr/>
        <p:nvPr/>
      </p:nvGrpSpPr>
      <p:grpSpPr>
        <a:xfrm>
          <a:off x="0" y="0"/>
          <a:ext cx="0" cy="0"/>
          <a:chOff x="0" y="0"/>
          <a:chExt cx="0" cy="0"/>
        </a:xfrm>
      </p:grpSpPr>
      <p:sp>
        <p:nvSpPr>
          <p:cNvPr id="2" name="Title"/>
          <p:cNvSpPr>
            <a:spLocks noGrp="1"/>
          </p:cNvSpPr>
          <p:nvPr>
            <p:ph type="title"/>
          </p:nvPr>
        </p:nvSpPr>
        <p:spPr>
          <a:xfrm>
            <a:off x="838200" y="365125"/>
            <a:ext cx="10515600" cy="1325563"/>
          </a:xfrm>
        </p:spPr>
        <p:txBody>
          <a:bodyPr/>
          <a:lstStyle/>
          <a:p>
            <a:endParaRPr lang="en-US"/>
          </a:p>
        </p:txBody>
      </p:sp>
      <p:sp>
        <p:nvSpPr>
          <p:cNvPr id="3" name="Content Left"/>
          <p:cNvSpPr>
            <a:spLocks noGrp="1"/>
          </p:cNvSpPr>
          <p:nvPr>
            <p:ph type="body" idx="1"/>
          </p:nvPr>
        </p:nvSpPr>
        <p:spPr>
          <a:xfrm>
            <a:off x="838200" y="1825625"/>
            <a:ext cx="5181600" cy="4351338"/>
          </a:xfrm>
        </p:spPr>
        <p:txBody>
          <a:bodyPr/>
          <a:lstStyle/>
          <a:p>
            <a:endParaRPr lang="en-US"/>
          </a:p>
        </p:txBody>
      </p:sp>
      <p:sp>
        <p:nvSpPr>
          <p:cNvPr id="4" name="Content Right"/>
          <p:cNvSpPr>
            <a:spLocks noGrp="1"/>
          </p:cNvSpPr>
          <p:nvPr>
            <p:ph type="body" idx="2"/>
          </p:nvPr>
        </p:nvSpPr>
        <p:spPr>
          <a:xfrm>
            <a:off x="6172200" y="1825625"/>
            <a:ext cx="5181600" cy="4351338"/>
          </a:xfrm>
        </p:spPr>
        <p:txBody>
          <a:bodyPr/>
          <a:lstStyle/>
          <a:p>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p:cNvSpPr>
            <a:spLocks noGrp="1"/>
          </p:cNvSpPr>
          <p:nvPr>
            <p:ph type="title"/>
          </p:nvPr>
        </p:nvSpPr>
        <p:spPr>
          <a:xfrm>
            <a:off x="838200" y="365125"/>
            <a:ext cx="10515600" cy="1325563"/>
          </a:xfrm>
        </p:spPr>
        <p:txBody>
          <a:bodyPr/>
          <a:lstStyle/>
          <a:p>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A3A5C"/>
        </a:solidFill>
        <a:effectLst/>
      </p:bgPr>
    </p:bg>
    <p:spTree>
      <p:nvGrpSpPr>
        <p:cNvPr id="1" name=""/>
        <p:cNvGrpSpPr/>
        <p:nvPr/>
      </p:nvGrpSpPr>
      <p:grpSpPr>
        <a:xfrm>
          <a:off x="0" y="0"/>
          <a:ext cx="0" cy="0"/>
          <a:chOff x="0" y="0"/>
          <a:chExt cx="0" cy="0"/>
        </a:xfrm>
      </p:grpSpPr>
      <p:sp>
        <p:nvSpPr>
          <p:cNvPr id="100000" name="TopBar"/>
          <p:cNvSpPr txBox="1"/>
          <p:nvPr/>
        </p:nvSpPr>
        <p:spPr>
          <a:xfrm>
            <a:off x="0" y="0"/>
            <a:ext cx="12193200" cy="180000"/>
          </a:xfrm>
          <a:prstGeom prst="rect">
            <a:avLst/>
          </a:prstGeom>
          <a:solidFill>
            <a:srgbClr val="F4A300"/>
          </a:solidFill>
        </p:spPr>
        <p:txBody>
          <a:bodyPr/>
          <a:lstStyle/>
          <a:p>
            <a:endParaRPr lang="en-US" sz="800">
              <a:solidFill>
                <a:srgbClr val="F4A300"/>
              </a:solidFill>
            </a:endParaRPr>
          </a:p>
        </p:txBody>
      </p:sp>
      <p:sp>
        <p:nvSpPr>
          <p:cNvPr id="100001" name="Title"/>
          <p:cNvSpPr txBox="1"/>
          <p:nvPr/>
        </p:nvSpPr>
        <p:spPr>
          <a:xfrm>
            <a:off x="720000" y="1080000"/>
            <a:ext cx="10753200" cy="1260000"/>
          </a:xfrm>
          <a:prstGeom prst="rect">
            <a:avLst/>
          </a:prstGeom>
        </p:spPr>
        <p:txBody>
          <a:bodyPr/>
          <a:lstStyle/>
          <a:p>
            <a:r>
              <a:rPr lang="en-US" sz="5200" b="1">
                <a:solidFill>
                  <a:srgbClr val="FFFFFF"/>
                </a:solidFill>
                <a:latin typeface="Calibri"/>
                <a:ea typeface="Calibri"/>
              </a:rPr>
              <a:t>DIP Diet RAG Agent</a:t>
            </a:r>
          </a:p>
        </p:txBody>
      </p:sp>
      <p:sp>
        <p:nvSpPr>
          <p:cNvPr id="100002" name="Subtitle"/>
          <p:cNvSpPr txBox="1"/>
          <p:nvPr/>
        </p:nvSpPr>
        <p:spPr>
          <a:xfrm>
            <a:off x="720000" y="2520000"/>
            <a:ext cx="10753200" cy="900000"/>
          </a:xfrm>
          <a:prstGeom prst="rect">
            <a:avLst/>
          </a:prstGeom>
        </p:spPr>
        <p:txBody>
          <a:bodyPr/>
          <a:lstStyle/>
          <a:p>
            <a:r>
              <a:rPr lang="en-US" sz="2400" b="0">
                <a:solidFill>
                  <a:srgbClr val="E8F4FD"/>
                </a:solidFill>
                <a:latin typeface="Calibri"/>
                <a:ea typeface="Calibri"/>
              </a:rPr>
              <a:t>An Intelligent Nutrition Assistant</a:t>
            </a:r>
          </a:p>
          <a:p>
            <a:r>
              <a:rPr lang="en-US" sz="2400" b="0">
                <a:solidFill>
                  <a:srgbClr val="E8F4FD"/>
                </a:solidFill>
                <a:latin typeface="Calibri"/>
                <a:ea typeface="Calibri"/>
              </a:rPr>
              <a:t>Powered by IBM Granite LLM · IBM WatsonX.ai · RAG</a:t>
            </a:r>
          </a:p>
        </p:txBody>
      </p:sp>
      <p:sp>
        <p:nvSpPr>
          <p:cNvPr id="100003" name="Tags"/>
          <p:cNvSpPr txBox="1"/>
          <p:nvPr/>
        </p:nvSpPr>
        <p:spPr>
          <a:xfrm>
            <a:off x="720000" y="3600000"/>
            <a:ext cx="10753200" cy="432000"/>
          </a:xfrm>
          <a:prstGeom prst="rect">
            <a:avLst/>
          </a:prstGeom>
        </p:spPr>
        <p:txBody>
          <a:bodyPr/>
          <a:lstStyle/>
          <a:p>
            <a:r>
              <a:rPr lang="en-US" sz="1600">
                <a:solidFill>
                  <a:srgbClr val="F4A300"/>
                </a:solidFill>
                <a:latin typeface="Calibri"/>
                <a:ea typeface="Calibri"/>
              </a:rPr>
              <a:t>FastAPI  ·  ChromaDB  ·  sentence-transformers  ·  Python 3.14</a:t>
            </a:r>
          </a:p>
        </p:txBody>
      </p:sp>
      <p:sp>
        <p:nvSpPr>
          <p:cNvPr id="100004" name="BottomBar"/>
          <p:cNvSpPr txBox="1"/>
          <p:nvPr/>
        </p:nvSpPr>
        <p:spPr>
          <a:xfrm>
            <a:off x="0" y="6408000"/>
            <a:ext cx="12193200" cy="432000"/>
          </a:xfrm>
          <a:prstGeom prst="rect">
            <a:avLst/>
          </a:prstGeom>
          <a:solidFill>
            <a:srgbClr val="0D2137"/>
          </a:solidFill>
        </p:spPr>
        <p:txBody>
          <a:bodyPr/>
          <a:lstStyle/>
          <a:p>
            <a:r>
              <a:rPr lang="en-US" sz="1400">
                <a:solidFill>
                  <a:srgbClr val="AECDE8"/>
                </a:solidFill>
                <a:latin typeface="Calibri"/>
                <a:ea typeface="Calibri"/>
              </a:rPr>
              <a:t>College Project Presentation  |  IBM Bob Hackathon  |  2025</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100005" name="Header"/>
          <p:cNvSpPr txBox="1"/>
          <p:nvPr/>
        </p:nvSpPr>
        <p:spPr>
          <a:xfrm>
            <a:off x="0" y="0"/>
            <a:ext cx="12193200" cy="792000"/>
          </a:xfrm>
          <a:prstGeom prst="rect">
            <a:avLst/>
          </a:prstGeom>
          <a:solidFill>
            <a:srgbClr val="1A3A5C"/>
          </a:solidFill>
        </p:spPr>
        <p:txBody>
          <a:bodyPr/>
          <a:lstStyle/>
          <a:p>
            <a:r>
              <a:rPr lang="en-US" sz="3200" b="1">
                <a:solidFill>
                  <a:srgbClr val="FFFFFF"/>
                </a:solidFill>
                <a:latin typeface="Calibri"/>
                <a:ea typeface="Calibri"/>
              </a:rPr>
              <a:t>Agenda</a:t>
            </a:r>
          </a:p>
        </p:txBody>
      </p:sp>
      <p:sp>
        <p:nvSpPr>
          <p:cNvPr id="100006" name="Col1"/>
          <p:cNvSpPr txBox="1"/>
          <p:nvPr/>
        </p:nvSpPr>
        <p:spPr>
          <a:xfrm>
            <a:off x="720000" y="1080000"/>
            <a:ext cx="5040000" cy="4680000"/>
          </a:xfrm>
          <a:prstGeom prst="rect">
            <a:avLst/>
          </a:prstGeom>
        </p:spPr>
        <p:txBody>
          <a:bodyPr/>
          <a:lstStyle/>
          <a:p>
            <a:r>
              <a:rPr lang="en-US" sz="1800">
                <a:solidFill>
                  <a:srgbClr val="1A3A5C"/>
                </a:solidFill>
                <a:latin typeface="Calibri"/>
                <a:ea typeface="Calibri"/>
              </a:rPr>
              <a:t>1.  Problem Statement</a:t>
            </a:r>
          </a:p>
          <a:p>
            <a:r>
              <a:rPr lang="en-US" sz="1800">
                <a:solidFill>
                  <a:srgbClr val="1A3A5C"/>
                </a:solidFill>
                <a:latin typeface="Calibri"/>
                <a:ea typeface="Calibri"/>
              </a:rPr>
              <a:t>2.  Project Objectives</a:t>
            </a:r>
          </a:p>
          <a:p>
            <a:r>
              <a:rPr lang="en-US" sz="1800">
                <a:solidFill>
                  <a:srgbClr val="1A3A5C"/>
                </a:solidFill>
                <a:latin typeface="Calibri"/>
                <a:ea typeface="Calibri"/>
              </a:rPr>
              <a:t>3.  IBM Technology Stack</a:t>
            </a:r>
          </a:p>
          <a:p>
            <a:r>
              <a:rPr lang="en-US" sz="1800">
                <a:solidFill>
                  <a:srgbClr val="1A3A5C"/>
                </a:solidFill>
                <a:latin typeface="Calibri"/>
                <a:ea typeface="Calibri"/>
              </a:rPr>
              <a:t>4.  System Architecture</a:t>
            </a:r>
          </a:p>
          <a:p>
            <a:r>
              <a:rPr lang="en-US" sz="1800">
                <a:solidFill>
                  <a:srgbClr val="1A3A5C"/>
                </a:solidFill>
                <a:latin typeface="Calibri"/>
                <a:ea typeface="Calibri"/>
              </a:rPr>
              <a:t>5.  SDLC Overview</a:t>
            </a:r>
          </a:p>
          <a:p>
            <a:r>
              <a:rPr lang="en-US" sz="1800">
                <a:solidFill>
                  <a:srgbClr val="1A3A5C"/>
                </a:solidFill>
                <a:latin typeface="Calibri"/>
                <a:ea typeface="Calibri"/>
              </a:rPr>
              <a:t>6.  Document Ingestion &amp; Chunking</a:t>
            </a:r>
          </a:p>
          <a:p>
            <a:r>
              <a:rPr lang="en-US" sz="1800">
                <a:solidFill>
                  <a:srgbClr val="1A3A5C"/>
                </a:solidFill>
                <a:latin typeface="Calibri"/>
                <a:ea typeface="Calibri"/>
              </a:rPr>
              <a:t>7.  Embeddings &amp; Vector Database</a:t>
            </a:r>
          </a:p>
          <a:p>
            <a:r>
              <a:rPr lang="en-US" sz="1800">
                <a:solidFill>
                  <a:srgbClr val="1A3A5C"/>
                </a:solidFill>
                <a:latin typeface="Calibri"/>
                <a:ea typeface="Calibri"/>
              </a:rPr>
              <a:t>8.  RAG Workflow</a:t>
            </a:r>
          </a:p>
          <a:p>
            <a:r>
              <a:rPr lang="en-US" sz="1800">
                <a:solidFill>
                  <a:srgbClr val="1A3A5C"/>
                </a:solidFill>
                <a:latin typeface="Calibri"/>
                <a:ea typeface="Calibri"/>
              </a:rPr>
              <a:t>9.  Semantic Search</a:t>
            </a:r>
          </a:p>
        </p:txBody>
      </p:sp>
      <p:sp>
        <p:nvSpPr>
          <p:cNvPr id="100007" name="Col2"/>
          <p:cNvSpPr txBox="1"/>
          <p:nvPr/>
        </p:nvSpPr>
        <p:spPr>
          <a:xfrm>
            <a:off x="6120000" y="1080000"/>
            <a:ext cx="5040000" cy="4680000"/>
          </a:xfrm>
          <a:prstGeom prst="rect">
            <a:avLst/>
          </a:prstGeom>
        </p:spPr>
        <p:txBody>
          <a:bodyPr/>
          <a:lstStyle/>
          <a:p>
            <a:r>
              <a:rPr lang="en-US" sz="1800">
                <a:solidFill>
                  <a:srgbClr val="1A3A5C"/>
                </a:solidFill>
                <a:latin typeface="Calibri"/>
                <a:ea typeface="Calibri"/>
              </a:rPr>
              <a:t>10. Conversational Q&amp;A Chat</a:t>
            </a:r>
          </a:p>
          <a:p>
            <a:r>
              <a:rPr lang="en-US" sz="1800">
                <a:solidFill>
                  <a:srgbClr val="1A3A5C"/>
                </a:solidFill>
                <a:latin typeface="Calibri"/>
                <a:ea typeface="Calibri"/>
              </a:rPr>
              <a:t>11. Personalized Meal Plans</a:t>
            </a:r>
          </a:p>
          <a:p>
            <a:r>
              <a:rPr lang="en-US" sz="1800">
                <a:solidFill>
                  <a:srgbClr val="1A3A5C"/>
                </a:solidFill>
                <a:latin typeface="Calibri"/>
                <a:ea typeface="Calibri"/>
              </a:rPr>
              <a:t>12. Shopping List Generator</a:t>
            </a:r>
          </a:p>
          <a:p>
            <a:r>
              <a:rPr lang="en-US" sz="1800">
                <a:solidFill>
                  <a:srgbClr val="1A3A5C"/>
                </a:solidFill>
                <a:latin typeface="Calibri"/>
                <a:ea typeface="Calibri"/>
              </a:rPr>
              <a:t>13. Nutrition Dashboard</a:t>
            </a:r>
          </a:p>
          <a:p>
            <a:r>
              <a:rPr lang="en-US" sz="1800">
                <a:solidFill>
                  <a:srgbClr val="1A3A5C"/>
                </a:solidFill>
                <a:latin typeface="Calibri"/>
                <a:ea typeface="Calibri"/>
              </a:rPr>
              <a:t>14. Food Substitution Engine</a:t>
            </a:r>
          </a:p>
          <a:p>
            <a:r>
              <a:rPr lang="en-US" sz="1800">
                <a:solidFill>
                  <a:srgbClr val="1A3A5C"/>
                </a:solidFill>
                <a:latin typeface="Calibri"/>
                <a:ea typeface="Calibri"/>
              </a:rPr>
              <a:t>15. AI Ethics &amp; Medical Safety</a:t>
            </a:r>
          </a:p>
          <a:p>
            <a:r>
              <a:rPr lang="en-US" sz="1800">
                <a:solidFill>
                  <a:srgbClr val="1A3A5C"/>
                </a:solidFill>
                <a:latin typeface="Calibri"/>
                <a:ea typeface="Calibri"/>
              </a:rPr>
              <a:t>16. Security &amp; Privacy</a:t>
            </a:r>
          </a:p>
          <a:p>
            <a:r>
              <a:rPr lang="en-US" sz="1800">
                <a:solidFill>
                  <a:srgbClr val="1A3A5C"/>
                </a:solidFill>
                <a:latin typeface="Calibri"/>
                <a:ea typeface="Calibri"/>
              </a:rPr>
              <a:t>17. Testing Results</a:t>
            </a:r>
          </a:p>
          <a:p>
            <a:r>
              <a:rPr lang="en-US" sz="1800">
                <a:solidFill>
                  <a:srgbClr val="1A3A5C"/>
                </a:solidFill>
                <a:latin typeface="Calibri"/>
                <a:ea typeface="Calibri"/>
              </a:rPr>
              <a:t>18. Known Limitations</a:t>
            </a:r>
          </a:p>
          <a:p>
            <a:r>
              <a:rPr lang="en-US" sz="1800">
                <a:solidFill>
                  <a:srgbClr val="1A3A5C"/>
                </a:solidFill>
                <a:latin typeface="Calibri"/>
                <a:ea typeface="Calibri"/>
              </a:rPr>
              <a:t>19. Future Scope</a:t>
            </a:r>
          </a:p>
          <a:p>
            <a:r>
              <a:rPr lang="en-US" sz="1800">
                <a:solidFill>
                  <a:srgbClr val="1A3A5C"/>
                </a:solidFill>
                <a:latin typeface="Calibri"/>
                <a:ea typeface="Calibri"/>
              </a:rPr>
              <a:t>20. Summary</a:t>
            </a:r>
          </a:p>
        </p:txBody>
      </p:sp>
      <p:sp>
        <p:nvSpPr>
          <p:cNvPr id="100008" name="Footer"/>
          <p:cNvSpPr txBox="1"/>
          <p:nvPr/>
        </p:nvSpPr>
        <p:spPr>
          <a:xfrm>
            <a:off x="0" y="6408000"/>
            <a:ext cx="12193200" cy="432000"/>
          </a:xfrm>
          <a:prstGeom prst="rect">
            <a:avLst/>
          </a:prstGeom>
          <a:solidFill>
            <a:srgbClr val="1A3A5C"/>
          </a:solidFill>
        </p:spPr>
        <p:txBody>
          <a:bodyPr/>
          <a:lstStyle/>
          <a:p>
            <a:r>
              <a:rPr lang="en-US" sz="1200">
                <a:solidFill>
                  <a:srgbClr val="AECDE8"/>
                </a:solidFill>
                <a:latin typeface="Calibri"/>
                <a:ea typeface="Calibri"/>
              </a:rPr>
              <a:t>Slide 2 of 25</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100009" name="Header"/>
          <p:cNvSpPr txBox="1"/>
          <p:nvPr/>
        </p:nvSpPr>
        <p:spPr>
          <a:xfrm>
            <a:off x="0" y="0"/>
            <a:ext cx="12193200" cy="792000"/>
          </a:xfrm>
          <a:prstGeom prst="rect">
            <a:avLst/>
          </a:prstGeom>
          <a:solidFill>
            <a:srgbClr val="1A3A5C"/>
          </a:solidFill>
        </p:spPr>
        <p:txBody>
          <a:bodyPr/>
          <a:lstStyle/>
          <a:p>
            <a:r>
              <a:rPr lang="en-US" sz="3200" b="1">
                <a:solidFill>
                  <a:srgbClr val="FFFFFF"/>
                </a:solidFill>
                <a:latin typeface="Calibri"/>
                <a:ea typeface="Calibri"/>
              </a:rPr>
              <a:t>1.  Problem Statement</a:t>
            </a:r>
          </a:p>
        </p:txBody>
      </p:sp>
      <p:sp>
        <p:nvSpPr>
          <p:cNvPr id="100010" name="Body"/>
          <p:cNvSpPr txBox="1"/>
          <p:nvPr/>
        </p:nvSpPr>
        <p:spPr>
          <a:xfrm>
            <a:off x="720000" y="1008000"/>
            <a:ext cx="10753200" cy="4320000"/>
          </a:xfrm>
          <a:prstGeom prst="rect">
            <a:avLst/>
          </a:prstGeom>
        </p:spPr>
        <p:txBody>
          <a:bodyPr/>
          <a:lstStyle/>
          <a:p>
            <a:r>
              <a:rPr lang="en-US" sz="2000">
                <a:solidFill>
                  <a:srgbClr val="1A3A5C"/>
                </a:solidFill>
                <a:latin typeface="Calibri"/>
                <a:ea typeface="Calibri"/>
              </a:rPr>
              <a:t>The Challenge</a:t>
            </a:r>
          </a:p>
          <a:p>
            <a:endParaRPr lang="en-US" sz="2000">
              <a:solidFill>
                <a:srgbClr val="1A3A5C"/>
              </a:solidFill>
              <a:latin typeface="Calibri"/>
              <a:ea typeface="Calibri"/>
            </a:endParaRPr>
          </a:p>
          <a:p>
            <a:r>
              <a:rPr lang="en-US" sz="2000">
                <a:solidFill>
                  <a:srgbClr val="1A3A5C"/>
                </a:solidFill>
                <a:latin typeface="Calibri"/>
                <a:ea typeface="Calibri"/>
              </a:rPr>
              <a:t>• Managing diet is complex — it depends on age, gender, weight, allergies, medical history, activity level, and cultural food preferences.</a:t>
            </a:r>
          </a:p>
          <a:p>
            <a:endParaRPr lang="en-US" sz="2000">
              <a:solidFill>
                <a:srgbClr val="1A3A5C"/>
              </a:solidFill>
              <a:latin typeface="Calibri"/>
              <a:ea typeface="Calibri"/>
            </a:endParaRPr>
          </a:p>
          <a:p>
            <a:r>
              <a:rPr lang="en-US" sz="2000">
                <a:solidFill>
                  <a:srgbClr val="1A3A5C"/>
                </a:solidFill>
                <a:latin typeface="Calibri"/>
                <a:ea typeface="Calibri"/>
              </a:rPr>
              <a:t>• Most nutrition apps provide generic, one-size-fits-all advice that ignores individual context.</a:t>
            </a:r>
          </a:p>
          <a:p>
            <a:endParaRPr lang="en-US" sz="2000">
              <a:solidFill>
                <a:srgbClr val="1A3A5C"/>
              </a:solidFill>
              <a:latin typeface="Calibri"/>
              <a:ea typeface="Calibri"/>
            </a:endParaRPr>
          </a:p>
          <a:p>
            <a:r>
              <a:rPr lang="en-US" sz="2000">
                <a:solidFill>
                  <a:srgbClr val="1A3A5C"/>
                </a:solidFill>
                <a:latin typeface="Calibri"/>
                <a:ea typeface="Calibri"/>
              </a:rPr>
              <a:t>• People lack access to personalised, expert-level dietary guidance — especially for structured frameworks like the DIP Diet.</a:t>
            </a:r>
          </a:p>
          <a:p>
            <a:endParaRPr lang="en-US" sz="2000">
              <a:solidFill>
                <a:srgbClr val="1A3A5C"/>
              </a:solidFill>
              <a:latin typeface="Calibri"/>
              <a:ea typeface="Calibri"/>
            </a:endParaRPr>
          </a:p>
          <a:p>
            <a:r>
              <a:rPr lang="en-US" sz="2000">
                <a:solidFill>
                  <a:srgbClr val="1A3A5C"/>
                </a:solidFill>
                <a:latin typeface="Calibri"/>
                <a:ea typeface="Calibri"/>
              </a:rPr>
              <a:t>• Existing chatbots do not ground their answers in verified nutrition documents, leading to hallucinations and unsafe advice.</a:t>
            </a:r>
          </a:p>
          <a:p>
            <a:endParaRPr lang="en-US" sz="2000">
              <a:solidFill>
                <a:srgbClr val="1A3A5C"/>
              </a:solidFill>
              <a:latin typeface="Calibri"/>
              <a:ea typeface="Calibri"/>
            </a:endParaRPr>
          </a:p>
          <a:p>
            <a:r>
              <a:rPr lang="en-US" sz="2000">
                <a:solidFill>
                  <a:srgbClr val="1A3A5C"/>
                </a:solidFill>
                <a:latin typeface="Calibri"/>
                <a:ea typeface="Calibri"/>
              </a:rPr>
              <a:t>• There is no simple tool that combines meal planning, shopping lists, and food substitution in one personalized, AI-powered interface.</a:t>
            </a:r>
          </a:p>
        </p:txBody>
      </p:sp>
      <p:sp>
        <p:nvSpPr>
          <p:cNvPr id="100011" name="Callout"/>
          <p:cNvSpPr txBox="1"/>
          <p:nvPr/>
        </p:nvSpPr>
        <p:spPr>
          <a:xfrm>
            <a:off x="720000" y="5220000"/>
            <a:ext cx="10753200" cy="900000"/>
          </a:xfrm>
          <a:prstGeom prst="rect">
            <a:avLst/>
          </a:prstGeom>
          <a:solidFill>
            <a:srgbClr val="E8F4FD"/>
          </a:solidFill>
        </p:spPr>
        <p:txBody>
          <a:bodyPr/>
          <a:lstStyle/>
          <a:p>
            <a:r>
              <a:rPr lang="en-US" sz="1800" b="1">
                <a:solidFill>
                  <a:srgbClr val="1A3A5C"/>
                </a:solidFill>
                <a:latin typeface="Calibri"/>
                <a:ea typeface="Calibri"/>
              </a:rPr>
              <a:t>Goal: Build a safe, personalized, RAG-powered nutrition assistant grounded in verified DIP Diet knowledge documents.</a:t>
            </a:r>
          </a:p>
        </p:txBody>
      </p:sp>
      <p:sp>
        <p:nvSpPr>
          <p:cNvPr id="100012" name="Footer"/>
          <p:cNvSpPr txBox="1"/>
          <p:nvPr/>
        </p:nvSpPr>
        <p:spPr>
          <a:xfrm>
            <a:off x="0" y="6408000"/>
            <a:ext cx="12193200" cy="432000"/>
          </a:xfrm>
          <a:prstGeom prst="rect">
            <a:avLst/>
          </a:prstGeom>
          <a:solidFill>
            <a:srgbClr val="1A3A5C"/>
          </a:solidFill>
        </p:spPr>
        <p:txBody>
          <a:bodyPr/>
          <a:lstStyle/>
          <a:p>
            <a:r>
              <a:rPr lang="en-US" sz="1200">
                <a:solidFill>
                  <a:srgbClr val="AECDE8"/>
                </a:solidFill>
                <a:latin typeface="Calibri"/>
                <a:ea typeface="Calibri"/>
              </a:rPr>
              <a:t>Slide 3 of 25</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100013" name="Header"/>
          <p:cNvSpPr txBox="1"/>
          <p:nvPr/>
        </p:nvSpPr>
        <p:spPr>
          <a:xfrm>
            <a:off x="0" y="0"/>
            <a:ext cx="12193200" cy="792000"/>
          </a:xfrm>
          <a:prstGeom prst="rect">
            <a:avLst/>
          </a:prstGeom>
          <a:solidFill>
            <a:srgbClr val="1A3A5C"/>
          </a:solidFill>
        </p:spPr>
        <p:txBody>
          <a:bodyPr/>
          <a:lstStyle/>
          <a:p>
            <a:r>
              <a:rPr lang="en-US" sz="3200" b="1">
                <a:solidFill>
                  <a:srgbClr val="FFFFFF"/>
                </a:solidFill>
                <a:latin typeface="Calibri"/>
                <a:ea typeface="Calibri"/>
              </a:rPr>
              <a:t>2.  Project Objectives</a:t>
            </a:r>
          </a:p>
        </p:txBody>
      </p:sp>
      <p:sp>
        <p:nvSpPr>
          <p:cNvPr id="100014" name="Functional"/>
          <p:cNvSpPr txBox="1"/>
          <p:nvPr/>
        </p:nvSpPr>
        <p:spPr>
          <a:xfrm>
            <a:off x="720000" y="1008000"/>
            <a:ext cx="6480000" cy="4860000"/>
          </a:xfrm>
          <a:prstGeom prst="rect">
            <a:avLst/>
          </a:prstGeom>
        </p:spPr>
        <p:txBody>
          <a:bodyPr/>
          <a:lstStyle/>
          <a:p>
            <a:r>
              <a:rPr lang="en-US" sz="1600">
                <a:solidFill>
                  <a:srgbClr val="1A3A5C"/>
                </a:solidFill>
                <a:latin typeface="Calibri"/>
                <a:ea typeface="Calibri"/>
              </a:rPr>
              <a:t>Functional Objectives</a:t>
            </a:r>
          </a:p>
          <a:p>
            <a:endParaRPr lang="en-US" sz="1600">
              <a:solidFill>
                <a:srgbClr val="1A3A5C"/>
              </a:solidFill>
              <a:latin typeface="Calibri"/>
              <a:ea typeface="Calibri"/>
            </a:endParaRPr>
          </a:p>
          <a:p>
            <a:r>
              <a:rPr lang="en-US" sz="1600">
                <a:solidFill>
                  <a:srgbClr val="1A3A5C"/>
                </a:solidFill>
                <a:latin typeface="Calibri"/>
                <a:ea typeface="Calibri"/>
              </a:rPr>
              <a:t>[DONE]  Accept user profile: age, gender, weight, height, diet preference, allergies, medical history, activity level, goals, city/country</a:t>
            </a:r>
          </a:p>
          <a:p>
            <a:endParaRPr lang="en-US" sz="1600">
              <a:solidFill>
                <a:srgbClr val="1A3A5C"/>
              </a:solidFill>
              <a:latin typeface="Calibri"/>
              <a:ea typeface="Calibri"/>
            </a:endParaRPr>
          </a:p>
          <a:p>
            <a:r>
              <a:rPr lang="en-US" sz="1600">
                <a:solidFill>
                  <a:srgbClr val="1A3A5C"/>
                </a:solidFill>
                <a:latin typeface="Calibri"/>
                <a:ea typeface="Calibri"/>
              </a:rPr>
              <a:t>[DONE]  Ingest DIP Diet nutrition documents into a vector knowledge base</a:t>
            </a:r>
          </a:p>
          <a:p>
            <a:endParaRPr lang="en-US" sz="1600">
              <a:solidFill>
                <a:srgbClr val="1A3A5C"/>
              </a:solidFill>
              <a:latin typeface="Calibri"/>
              <a:ea typeface="Calibri"/>
            </a:endParaRPr>
          </a:p>
          <a:p>
            <a:r>
              <a:rPr lang="en-US" sz="1600">
                <a:solidFill>
                  <a:srgbClr val="1A3A5C"/>
                </a:solidFill>
                <a:latin typeface="Calibri"/>
                <a:ea typeface="Calibri"/>
              </a:rPr>
              <a:t>[DONE]  Answer nutrition questions using RAG (retrieved documents + IBM Granite LLM)</a:t>
            </a:r>
          </a:p>
          <a:p>
            <a:endParaRPr lang="en-US" sz="1600">
              <a:solidFill>
                <a:srgbClr val="1A3A5C"/>
              </a:solidFill>
              <a:latin typeface="Calibri"/>
              <a:ea typeface="Calibri"/>
            </a:endParaRPr>
          </a:p>
          <a:p>
            <a:r>
              <a:rPr lang="en-US" sz="1600">
                <a:solidFill>
                  <a:srgbClr val="1A3A5C"/>
                </a:solidFill>
                <a:latin typeface="Calibri"/>
                <a:ea typeface="Calibri"/>
              </a:rPr>
              <a:t>[DONE]  Generate personalized daily and weekly meal plans</a:t>
            </a:r>
          </a:p>
          <a:p>
            <a:endParaRPr lang="en-US" sz="1600">
              <a:solidFill>
                <a:srgbClr val="1A3A5C"/>
              </a:solidFill>
              <a:latin typeface="Calibri"/>
              <a:ea typeface="Calibri"/>
            </a:endParaRPr>
          </a:p>
          <a:p>
            <a:r>
              <a:rPr lang="en-US" sz="1600">
                <a:solidFill>
                  <a:srgbClr val="1A3A5C"/>
                </a:solidFill>
                <a:latin typeface="Calibri"/>
                <a:ea typeface="Calibri"/>
              </a:rPr>
              <a:t>[DONE]  Generate categorized shopping lists from meal plans</a:t>
            </a:r>
          </a:p>
          <a:p>
            <a:endParaRPr lang="en-US" sz="1600">
              <a:solidFill>
                <a:srgbClr val="1A3A5C"/>
              </a:solidFill>
              <a:latin typeface="Calibri"/>
              <a:ea typeface="Calibri"/>
            </a:endParaRPr>
          </a:p>
          <a:p>
            <a:r>
              <a:rPr lang="en-US" sz="1600">
                <a:solidFill>
                  <a:srgbClr val="1A3A5C"/>
                </a:solidFill>
                <a:latin typeface="Calibri"/>
                <a:ea typeface="Calibri"/>
              </a:rPr>
              <a:t>[DONE]  Suggest food substitutions respecting allergies and preferences</a:t>
            </a:r>
          </a:p>
          <a:p>
            <a:endParaRPr lang="en-US" sz="1600">
              <a:solidFill>
                <a:srgbClr val="1A3A5C"/>
              </a:solidFill>
              <a:latin typeface="Calibri"/>
              <a:ea typeface="Calibri"/>
            </a:endParaRPr>
          </a:p>
          <a:p>
            <a:r>
              <a:rPr lang="en-US" sz="1600">
                <a:solidFill>
                  <a:srgbClr val="1A3A5C"/>
                </a:solidFill>
                <a:latin typeface="Calibri"/>
                <a:ea typeface="Calibri"/>
              </a:rPr>
              <a:t>[DONE]  Show nutrition dashboard with TDEE, macros, and BMI</a:t>
            </a:r>
          </a:p>
        </p:txBody>
      </p:sp>
      <p:sp>
        <p:nvSpPr>
          <p:cNvPr id="100015" name="NonFunctional"/>
          <p:cNvSpPr txBox="1"/>
          <p:nvPr/>
        </p:nvSpPr>
        <p:spPr>
          <a:xfrm>
            <a:off x="7560000" y="1008000"/>
            <a:ext cx="3960000" cy="4860000"/>
          </a:xfrm>
          <a:prstGeom prst="rect">
            <a:avLst/>
          </a:prstGeom>
        </p:spPr>
        <p:txBody>
          <a:bodyPr/>
          <a:lstStyle/>
          <a:p>
            <a:r>
              <a:rPr lang="en-US" sz="1600">
                <a:solidFill>
                  <a:srgbClr val="1A3A5C"/>
                </a:solidFill>
                <a:latin typeface="Calibri"/>
                <a:ea typeface="Calibri"/>
              </a:rPr>
              <a:t>Non-Functional Objectives</a:t>
            </a:r>
          </a:p>
          <a:p>
            <a:endParaRPr lang="en-US" sz="1600">
              <a:solidFill>
                <a:srgbClr val="1A3A5C"/>
              </a:solidFill>
              <a:latin typeface="Calibri"/>
              <a:ea typeface="Calibri"/>
            </a:endParaRPr>
          </a:p>
          <a:p>
            <a:r>
              <a:rPr lang="en-US" sz="1600">
                <a:solidFill>
                  <a:srgbClr val="1A3A5C"/>
                </a:solidFill>
                <a:latin typeface="Calibri"/>
                <a:ea typeface="Calibri"/>
              </a:rPr>
              <a:t>[DONE]  Response time under 5 seconds for local demo mode</a:t>
            </a:r>
          </a:p>
          <a:p>
            <a:endParaRPr lang="en-US" sz="1600">
              <a:solidFill>
                <a:srgbClr val="1A3A5C"/>
              </a:solidFill>
              <a:latin typeface="Calibri"/>
              <a:ea typeface="Calibri"/>
            </a:endParaRPr>
          </a:p>
          <a:p>
            <a:r>
              <a:rPr lang="en-US" sz="1600">
                <a:solidFill>
                  <a:srgbClr val="1A3A5C"/>
                </a:solidFill>
                <a:latin typeface="Calibri"/>
                <a:ea typeface="Calibri"/>
              </a:rPr>
              <a:t>[DONE]  Safety guardrails block harmful / medical-diagnosis queries</a:t>
            </a:r>
          </a:p>
          <a:p>
            <a:endParaRPr lang="en-US" sz="1600">
              <a:solidFill>
                <a:srgbClr val="1A3A5C"/>
              </a:solidFill>
              <a:latin typeface="Calibri"/>
              <a:ea typeface="Calibri"/>
            </a:endParaRPr>
          </a:p>
          <a:p>
            <a:r>
              <a:rPr lang="en-US" sz="1600">
                <a:solidFill>
                  <a:srgbClr val="1A3A5C"/>
                </a:solidFill>
                <a:latin typeface="Calibri"/>
                <a:ea typeface="Calibri"/>
              </a:rPr>
              <a:t>[DONE]  All responses include medical disclaimer</a:t>
            </a:r>
          </a:p>
          <a:p>
            <a:endParaRPr lang="en-US" sz="1600">
              <a:solidFill>
                <a:srgbClr val="1A3A5C"/>
              </a:solidFill>
              <a:latin typeface="Calibri"/>
              <a:ea typeface="Calibri"/>
            </a:endParaRPr>
          </a:p>
          <a:p>
            <a:r>
              <a:rPr lang="en-US" sz="1600">
                <a:solidFill>
                  <a:srgbClr val="1A3A5C"/>
                </a:solidFill>
                <a:latin typeface="Calibri"/>
                <a:ea typeface="Calibri"/>
              </a:rPr>
              <a:t>[DONE]  Graceful fallback (Demo Mode) when IBM credentials are absent</a:t>
            </a:r>
          </a:p>
          <a:p>
            <a:endParaRPr lang="en-US" sz="1600">
              <a:solidFill>
                <a:srgbClr val="1A3A5C"/>
              </a:solidFill>
              <a:latin typeface="Calibri"/>
              <a:ea typeface="Calibri"/>
            </a:endParaRPr>
          </a:p>
          <a:p>
            <a:r>
              <a:rPr lang="en-US" sz="1600">
                <a:solidFill>
                  <a:srgbClr val="1A3A5C"/>
                </a:solidFill>
                <a:latin typeface="Calibri"/>
                <a:ea typeface="Calibri"/>
              </a:rPr>
              <a:t>[DONE]  Secure: no secrets committed to repository</a:t>
            </a:r>
          </a:p>
          <a:p>
            <a:endParaRPr lang="en-US" sz="1600">
              <a:solidFill>
                <a:srgbClr val="1A3A5C"/>
              </a:solidFill>
              <a:latin typeface="Calibri"/>
              <a:ea typeface="Calibri"/>
            </a:endParaRPr>
          </a:p>
          <a:p>
            <a:r>
              <a:rPr lang="en-US" sz="1600">
                <a:solidFill>
                  <a:srgbClr val="1A3A5C"/>
                </a:solidFill>
                <a:latin typeface="Calibri"/>
                <a:ea typeface="Calibri"/>
              </a:rPr>
              <a:t>[PLANNED]  Sub-5s response with IBM Granite LLM via live WatsonX.ai</a:t>
            </a:r>
          </a:p>
          <a:p>
            <a:endParaRPr lang="en-US" sz="1600">
              <a:solidFill>
                <a:srgbClr val="1A3A5C"/>
              </a:solidFill>
              <a:latin typeface="Calibri"/>
              <a:ea typeface="Calibri"/>
            </a:endParaRPr>
          </a:p>
          <a:p>
            <a:r>
              <a:rPr lang="en-US" sz="1600">
                <a:solidFill>
                  <a:srgbClr val="1A3A5C"/>
                </a:solidFill>
                <a:latin typeface="Calibri"/>
                <a:ea typeface="Calibri"/>
              </a:rPr>
              <a:t>[PLANNED]  IBM Cloud production deployment</a:t>
            </a:r>
          </a:p>
          <a:p>
            <a:endParaRPr lang="en-US" sz="1600">
              <a:solidFill>
                <a:srgbClr val="1A3A5C"/>
              </a:solidFill>
              <a:latin typeface="Calibri"/>
              <a:ea typeface="Calibri"/>
            </a:endParaRPr>
          </a:p>
          <a:p>
            <a:r>
              <a:rPr lang="en-US" sz="1600">
                <a:solidFill>
                  <a:srgbClr val="1A3A5C"/>
                </a:solidFill>
                <a:latin typeface="Calibri"/>
                <a:ea typeface="Calibri"/>
              </a:rPr>
              <a:t>Note: [DONE] = implemented and tested locally.</a:t>
            </a:r>
          </a:p>
          <a:p>
            <a:r>
              <a:rPr lang="en-US" sz="1600">
                <a:solidFill>
                  <a:srgbClr val="1A3A5C"/>
                </a:solidFill>
                <a:latin typeface="Calibri"/>
                <a:ea typeface="Calibri"/>
              </a:rPr>
              <a:t>[PLANNED] = designed but requires live IBM credentials.</a:t>
            </a:r>
          </a:p>
        </p:txBody>
      </p:sp>
      <p:sp>
        <p:nvSpPr>
          <p:cNvPr id="100016" name="Footer"/>
          <p:cNvSpPr txBox="1"/>
          <p:nvPr/>
        </p:nvSpPr>
        <p:spPr>
          <a:xfrm>
            <a:off x="0" y="6408000"/>
            <a:ext cx="12193200" cy="432000"/>
          </a:xfrm>
          <a:prstGeom prst="rect">
            <a:avLst/>
          </a:prstGeom>
          <a:solidFill>
            <a:srgbClr val="1A3A5C"/>
          </a:solidFill>
        </p:spPr>
        <p:txBody>
          <a:bodyPr/>
          <a:lstStyle/>
          <a:p>
            <a:r>
              <a:rPr lang="en-US" sz="1200">
                <a:solidFill>
                  <a:srgbClr val="AECDE8"/>
                </a:solidFill>
                <a:latin typeface="Calibri"/>
                <a:ea typeface="Calibri"/>
              </a:rPr>
              <a:t>Slide 4 of 25</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100017" name="Header"/>
          <p:cNvSpPr txBox="1"/>
          <p:nvPr/>
        </p:nvSpPr>
        <p:spPr>
          <a:xfrm>
            <a:off x="0" y="0"/>
            <a:ext cx="12193200" cy="792000"/>
          </a:xfrm>
          <a:prstGeom prst="rect">
            <a:avLst/>
          </a:prstGeom>
          <a:solidFill>
            <a:srgbClr val="1A3A5C"/>
          </a:solidFill>
        </p:spPr>
        <p:txBody>
          <a:bodyPr/>
          <a:lstStyle/>
          <a:p>
            <a:r>
              <a:rPr lang="en-US" sz="3200" b="1">
                <a:solidFill>
                  <a:srgbClr val="FFFFFF"/>
                </a:solidFill>
                <a:latin typeface="Calibri"/>
                <a:ea typeface="Calibri"/>
              </a:rPr>
              <a:t>3.  IBM Technology Stack</a:t>
            </a:r>
          </a:p>
        </p:txBody>
      </p:sp>
      <p:sp>
        <p:nvSpPr>
          <p:cNvPr id="100018" name="IBM1"/>
          <p:cNvSpPr txBox="1"/>
          <p:nvPr/>
        </p:nvSpPr>
        <p:spPr>
          <a:xfrm>
            <a:off x="720000" y="1008000"/>
            <a:ext cx="3240000" cy="2880000"/>
          </a:xfrm>
          <a:prstGeom prst="rect">
            <a:avLst/>
          </a:prstGeom>
          <a:solidFill>
            <a:srgbClr val="E8F4FD"/>
          </a:solidFill>
        </p:spPr>
        <p:txBody>
          <a:bodyPr/>
          <a:lstStyle/>
          <a:p>
            <a:r>
              <a:rPr lang="en-US" sz="1500">
                <a:solidFill>
                  <a:srgbClr val="1A3A5C"/>
                </a:solidFill>
                <a:latin typeface="Calibri"/>
                <a:ea typeface="Calibri"/>
              </a:rPr>
              <a:t>IBM Granite LLM</a:t>
            </a:r>
          </a:p>
          <a:p>
            <a:r>
              <a:rPr lang="en-US" sz="1500">
                <a:solidFill>
                  <a:srgbClr val="1A3A5C"/>
                </a:solidFill>
                <a:latin typeface="Calibri"/>
                <a:ea typeface="Calibri"/>
              </a:rPr>
              <a:t>ibm/granite-13b-instruct-v2</a:t>
            </a:r>
          </a:p>
          <a:p>
            <a:endParaRPr lang="en-US" sz="1500">
              <a:solidFill>
                <a:srgbClr val="1A3A5C"/>
              </a:solidFill>
              <a:latin typeface="Calibri"/>
              <a:ea typeface="Calibri"/>
            </a:endParaRPr>
          </a:p>
          <a:p>
            <a:r>
              <a:rPr lang="en-US" sz="1500">
                <a:solidFill>
                  <a:srgbClr val="1A3A5C"/>
                </a:solidFill>
                <a:latin typeface="Calibri"/>
                <a:ea typeface="Calibri"/>
              </a:rPr>
              <a:t>Core language model for generating personalized nutrition answers, meal plans, and food substitution suggestions.</a:t>
            </a:r>
          </a:p>
          <a:p>
            <a:endParaRPr lang="en-US" sz="1500">
              <a:solidFill>
                <a:srgbClr val="1A3A5C"/>
              </a:solidFill>
              <a:latin typeface="Calibri"/>
              <a:ea typeface="Calibri"/>
            </a:endParaRPr>
          </a:p>
          <a:p>
            <a:r>
              <a:rPr lang="en-US" sz="1500">
                <a:solidFill>
                  <a:srgbClr val="1A3A5C"/>
                </a:solidFill>
                <a:latin typeface="Calibri"/>
                <a:ea typeface="Calibri"/>
              </a:rPr>
              <a:t>Status: Integrated via ibm-watsonx-ai SDK. Runs in Demo Mode locally; connects to live WatsonX.ai with real credentials.</a:t>
            </a:r>
          </a:p>
        </p:txBody>
      </p:sp>
      <p:sp>
        <p:nvSpPr>
          <p:cNvPr id="100019" name="IBM2"/>
          <p:cNvSpPr txBox="1"/>
          <p:nvPr/>
        </p:nvSpPr>
        <p:spPr>
          <a:xfrm>
            <a:off x="4500000" y="1008000"/>
            <a:ext cx="3240000" cy="2880000"/>
          </a:xfrm>
          <a:prstGeom prst="rect">
            <a:avLst/>
          </a:prstGeom>
          <a:solidFill>
            <a:srgbClr val="E8F4FD"/>
          </a:solidFill>
        </p:spPr>
        <p:txBody>
          <a:bodyPr/>
          <a:lstStyle/>
          <a:p>
            <a:r>
              <a:rPr lang="en-US" sz="1500">
                <a:solidFill>
                  <a:srgbClr val="1A3A5C"/>
                </a:solidFill>
                <a:latin typeface="Calibri"/>
                <a:ea typeface="Calibri"/>
              </a:rPr>
              <a:t>IBM WatsonX.ai</a:t>
            </a:r>
          </a:p>
          <a:p>
            <a:r>
              <a:rPr lang="en-US" sz="1500">
                <a:solidFill>
                  <a:srgbClr val="1A3A5C"/>
                </a:solidFill>
                <a:latin typeface="Calibri"/>
                <a:ea typeface="Calibri"/>
              </a:rPr>
              <a:t>API Platform</a:t>
            </a:r>
          </a:p>
          <a:p>
            <a:endParaRPr lang="en-US" sz="1500">
              <a:solidFill>
                <a:srgbClr val="1A3A5C"/>
              </a:solidFill>
              <a:latin typeface="Calibri"/>
              <a:ea typeface="Calibri"/>
            </a:endParaRPr>
          </a:p>
          <a:p>
            <a:r>
              <a:rPr lang="en-US" sz="1500">
                <a:solidFill>
                  <a:srgbClr val="1A3A5C"/>
                </a:solidFill>
                <a:latin typeface="Calibri"/>
                <a:ea typeface="Calibri"/>
              </a:rPr>
              <a:t>Cloud-hosted inference endpoint for IBM Granite. Provides authentication, project management, and rate-limited model access.</a:t>
            </a:r>
          </a:p>
          <a:p>
            <a:endParaRPr lang="en-US" sz="1500">
              <a:solidFill>
                <a:srgbClr val="1A3A5C"/>
              </a:solidFill>
              <a:latin typeface="Calibri"/>
              <a:ea typeface="Calibri"/>
            </a:endParaRPr>
          </a:p>
          <a:p>
            <a:r>
              <a:rPr lang="en-US" sz="1500">
                <a:solidFill>
                  <a:srgbClr val="1A3A5C"/>
                </a:solidFill>
                <a:latin typeface="Calibri"/>
                <a:ea typeface="Calibri"/>
              </a:rPr>
              <a:t>Endpoint: us-south.ml.cloud.ibm.com</a:t>
            </a:r>
          </a:p>
          <a:p>
            <a:endParaRPr lang="en-US" sz="1500">
              <a:solidFill>
                <a:srgbClr val="1A3A5C"/>
              </a:solidFill>
              <a:latin typeface="Calibri"/>
              <a:ea typeface="Calibri"/>
            </a:endParaRPr>
          </a:p>
          <a:p>
            <a:r>
              <a:rPr lang="en-US" sz="1500">
                <a:solidFill>
                  <a:srgbClr val="1A3A5C"/>
                </a:solidFill>
                <a:latin typeface="Calibri"/>
                <a:ea typeface="Calibri"/>
              </a:rPr>
              <a:t>Status: Configured. Requires WATSONX_API_KEY and WATSONX_PROJECT_ID in .env</a:t>
            </a:r>
          </a:p>
        </p:txBody>
      </p:sp>
      <p:sp>
        <p:nvSpPr>
          <p:cNvPr id="100020" name="IBM3"/>
          <p:cNvSpPr txBox="1"/>
          <p:nvPr/>
        </p:nvSpPr>
        <p:spPr>
          <a:xfrm>
            <a:off x="8280000" y="1008000"/>
            <a:ext cx="3240000" cy="2880000"/>
          </a:xfrm>
          <a:prstGeom prst="rect">
            <a:avLst/>
          </a:prstGeom>
          <a:solidFill>
            <a:srgbClr val="FFF3E0"/>
          </a:solidFill>
        </p:spPr>
        <p:txBody>
          <a:bodyPr/>
          <a:lstStyle/>
          <a:p>
            <a:r>
              <a:rPr lang="en-US" sz="1500">
                <a:solidFill>
                  <a:srgbClr val="1A3A5C"/>
                </a:solidFill>
                <a:latin typeface="Calibri"/>
                <a:ea typeface="Calibri"/>
              </a:rPr>
              <a:t>IBM Cloud</a:t>
            </a:r>
          </a:p>
          <a:p>
            <a:r>
              <a:rPr lang="en-US" sz="1500">
                <a:solidFill>
                  <a:srgbClr val="1A3A5C"/>
                </a:solidFill>
                <a:latin typeface="Calibri"/>
                <a:ea typeface="Calibri"/>
              </a:rPr>
              <a:t>Hosting Platform</a:t>
            </a:r>
          </a:p>
          <a:p>
            <a:endParaRPr lang="en-US" sz="1500">
              <a:solidFill>
                <a:srgbClr val="1A3A5C"/>
              </a:solidFill>
              <a:latin typeface="Calibri"/>
              <a:ea typeface="Calibri"/>
            </a:endParaRPr>
          </a:p>
          <a:p>
            <a:r>
              <a:rPr lang="en-US" sz="1500">
                <a:solidFill>
                  <a:srgbClr val="1A3A5C"/>
                </a:solidFill>
                <a:latin typeface="Calibri"/>
                <a:ea typeface="Calibri"/>
              </a:rPr>
              <a:t>Target deployment: IBM Cloud Code Engine (serverless containers). Image registry: IBM Container Registry.</a:t>
            </a:r>
          </a:p>
          <a:p>
            <a:endParaRPr lang="en-US" sz="1500">
              <a:solidFill>
                <a:srgbClr val="1A3A5C"/>
              </a:solidFill>
              <a:latin typeface="Calibri"/>
              <a:ea typeface="Calibri"/>
            </a:endParaRPr>
          </a:p>
          <a:p>
            <a:r>
              <a:rPr lang="en-US" sz="1500">
                <a:solidFill>
                  <a:srgbClr val="1A3A5C"/>
                </a:solidFill>
                <a:latin typeface="Calibri"/>
                <a:ea typeface="Calibri"/>
              </a:rPr>
              <a:t>Secrets management: IBM Secrets Manager.</a:t>
            </a:r>
          </a:p>
          <a:p>
            <a:endParaRPr lang="en-US" sz="1500">
              <a:solidFill>
                <a:srgbClr val="1A3A5C"/>
              </a:solidFill>
              <a:latin typeface="Calibri"/>
              <a:ea typeface="Calibri"/>
            </a:endParaRPr>
          </a:p>
          <a:p>
            <a:r>
              <a:rPr lang="en-US" sz="1500">
                <a:solidFill>
                  <a:srgbClr val="1A3A5C"/>
                </a:solidFill>
                <a:latin typeface="Calibri"/>
                <a:ea typeface="Calibri"/>
              </a:rPr>
              <a:t>Status: Architecture designed. Deployment PLANNED (requires IBM Cloud account).</a:t>
            </a:r>
          </a:p>
        </p:txBody>
      </p:sp>
      <p:sp>
        <p:nvSpPr>
          <p:cNvPr id="100021" name="IBM4"/>
          <p:cNvSpPr txBox="1"/>
          <p:nvPr/>
        </p:nvSpPr>
        <p:spPr>
          <a:xfrm>
            <a:off x="720000" y="4140000"/>
            <a:ext cx="3240000" cy="1980000"/>
          </a:xfrm>
          <a:prstGeom prst="rect">
            <a:avLst/>
          </a:prstGeom>
          <a:solidFill>
            <a:srgbClr val="E8F4FD"/>
          </a:solidFill>
        </p:spPr>
        <p:txBody>
          <a:bodyPr/>
          <a:lstStyle/>
          <a:p>
            <a:r>
              <a:rPr lang="en-US" sz="1500">
                <a:solidFill>
                  <a:srgbClr val="1A3A5C"/>
                </a:solidFill>
                <a:latin typeface="Calibri"/>
                <a:ea typeface="Calibri"/>
              </a:rPr>
              <a:t>IBM Bob</a:t>
            </a:r>
          </a:p>
          <a:p>
            <a:r>
              <a:rPr lang="en-US" sz="1500">
                <a:solidFill>
                  <a:srgbClr val="1A3A5C"/>
                </a:solidFill>
                <a:latin typeface="Calibri"/>
                <a:ea typeface="Calibri"/>
              </a:rPr>
              <a:t>AI Development Assistant</a:t>
            </a:r>
          </a:p>
          <a:p>
            <a:endParaRPr lang="en-US" sz="1500">
              <a:solidFill>
                <a:srgbClr val="1A3A5C"/>
              </a:solidFill>
              <a:latin typeface="Calibri"/>
              <a:ea typeface="Calibri"/>
            </a:endParaRPr>
          </a:p>
          <a:p>
            <a:r>
              <a:rPr lang="en-US" sz="1500">
                <a:solidFill>
                  <a:srgbClr val="1A3A5C"/>
                </a:solidFill>
                <a:latin typeface="Calibri"/>
                <a:ea typeface="Calibri"/>
              </a:rPr>
              <a:t>Used throughout the entire project: code generation, architecture decisions, documentation writing, test design, and deployment planning.</a:t>
            </a:r>
          </a:p>
          <a:p>
            <a:endParaRPr lang="en-US" sz="1500">
              <a:solidFill>
                <a:srgbClr val="1A3A5C"/>
              </a:solidFill>
              <a:latin typeface="Calibri"/>
              <a:ea typeface="Calibri"/>
            </a:endParaRPr>
          </a:p>
          <a:p>
            <a:r>
              <a:rPr lang="en-US" sz="1500">
                <a:solidFill>
                  <a:srgbClr val="1A3A5C"/>
                </a:solidFill>
                <a:latin typeface="Calibri"/>
                <a:ea typeface="Calibri"/>
              </a:rPr>
              <a:t>Status: Active throughout project lifecycle.</a:t>
            </a:r>
          </a:p>
        </p:txBody>
      </p:sp>
      <p:sp>
        <p:nvSpPr>
          <p:cNvPr id="100022" name="Legend"/>
          <p:cNvSpPr txBox="1"/>
          <p:nvPr/>
        </p:nvSpPr>
        <p:spPr>
          <a:xfrm>
            <a:off x="4500000" y="4140000"/>
            <a:ext cx="7020000" cy="540000"/>
          </a:xfrm>
          <a:prstGeom prst="rect">
            <a:avLst/>
          </a:prstGeom>
          <a:solidFill>
            <a:srgbClr val="F0F0F0"/>
          </a:solidFill>
        </p:spPr>
        <p:txBody>
          <a:bodyPr/>
          <a:lstStyle/>
          <a:p>
            <a:r>
              <a:rPr lang="en-US" sz="1500">
                <a:solidFill>
                  <a:srgbClr val="444444"/>
                </a:solidFill>
                <a:latin typeface="Calibri"/>
                <a:ea typeface="Calibri"/>
              </a:rPr>
              <a:t>Legend:  Blue = DONE / Active    Orange = PLANNED</a:t>
            </a:r>
          </a:p>
        </p:txBody>
      </p:sp>
      <p:sp>
        <p:nvSpPr>
          <p:cNvPr id="100023" name="Footer"/>
          <p:cNvSpPr txBox="1"/>
          <p:nvPr/>
        </p:nvSpPr>
        <p:spPr>
          <a:xfrm>
            <a:off x="0" y="6408000"/>
            <a:ext cx="12193200" cy="432000"/>
          </a:xfrm>
          <a:prstGeom prst="rect">
            <a:avLst/>
          </a:prstGeom>
          <a:solidFill>
            <a:srgbClr val="1A3A5C"/>
          </a:solidFill>
        </p:spPr>
        <p:txBody>
          <a:bodyPr/>
          <a:lstStyle/>
          <a:p>
            <a:r>
              <a:rPr lang="en-US" sz="1200">
                <a:solidFill>
                  <a:srgbClr val="AECDE8"/>
                </a:solidFill>
                <a:latin typeface="Calibri"/>
                <a:ea typeface="Calibri"/>
              </a:rPr>
              <a:t>Slide 5 of 25</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100024" name="Header"/>
          <p:cNvSpPr txBox="1"/>
          <p:nvPr/>
        </p:nvSpPr>
        <p:spPr>
          <a:xfrm>
            <a:off x="0" y="0"/>
            <a:ext cx="12193200" cy="792000"/>
          </a:xfrm>
          <a:prstGeom prst="rect">
            <a:avLst/>
          </a:prstGeom>
          <a:solidFill>
            <a:srgbClr val="1A3A5C"/>
          </a:solidFill>
        </p:spPr>
        <p:txBody>
          <a:bodyPr/>
          <a:lstStyle/>
          <a:p>
            <a:r>
              <a:rPr lang="en-US" sz="3200" b="1">
                <a:solidFill>
                  <a:srgbClr val="FFFFFF"/>
                </a:solidFill>
                <a:latin typeface="Calibri"/>
                <a:ea typeface="Calibri"/>
              </a:rPr>
              <a:t>4.  System Architecture</a:t>
            </a:r>
          </a:p>
        </p:txBody>
      </p:sp>
      <p:sp>
        <p:nvSpPr>
          <p:cNvPr id="100025" name="Layer1"/>
          <p:cNvSpPr txBox="1"/>
          <p:nvPr/>
        </p:nvSpPr>
        <p:spPr>
          <a:xfrm>
            <a:off x="720000" y="1008000"/>
            <a:ext cx="10753200" cy="900000"/>
          </a:xfrm>
          <a:prstGeom prst="rect">
            <a:avLst/>
          </a:prstGeom>
          <a:solidFill>
            <a:srgbClr val="1A3A5C"/>
          </a:solidFill>
        </p:spPr>
        <p:txBody>
          <a:bodyPr/>
          <a:lstStyle/>
          <a:p>
            <a:r>
              <a:rPr lang="en-US" sz="1500" b="0">
                <a:solidFill>
                  <a:srgbClr val="FFFFFF"/>
                </a:solidFill>
                <a:latin typeface="Calibri"/>
                <a:ea typeface="Calibri"/>
              </a:rPr>
              <a:t>LAYER 1 — FRONTEND</a:t>
            </a:r>
          </a:p>
          <a:p>
            <a:r>
              <a:rPr lang="en-US" sz="1500" b="0">
                <a:solidFill>
                  <a:srgbClr val="FFFFFF"/>
                </a:solidFill>
                <a:latin typeface="Calibri"/>
                <a:ea typeface="Calibri"/>
              </a:rPr>
              <a:t>HTML5 / CSS3 / Vanilla JavaScript (Single Page Application)</a:t>
            </a:r>
          </a:p>
          <a:p>
            <a:r>
              <a:rPr lang="en-US" sz="1500" b="0">
                <a:solidFill>
                  <a:srgbClr val="FFFFFF"/>
                </a:solidFill>
                <a:latin typeface="Calibri"/>
                <a:ea typeface="Calibri"/>
              </a:rPr>
              <a:t>User Profile Form  ·  Chat Interface  ·  Meal Plan View  ·  Shopping List  ·  Dashboard</a:t>
            </a:r>
          </a:p>
          <a:p>
            <a:r>
              <a:rPr lang="en-US" sz="1500" b="0">
                <a:solidFill>
                  <a:srgbClr val="FFFFFF"/>
                </a:solidFill>
                <a:latin typeface="Calibri"/>
                <a:ea typeface="Calibri"/>
              </a:rPr>
              <a:t>Served by FastAPI static files mount at /static</a:t>
            </a:r>
          </a:p>
        </p:txBody>
      </p:sp>
      <p:sp>
        <p:nvSpPr>
          <p:cNvPr id="100026" name="Arrow1"/>
          <p:cNvSpPr txBox="1"/>
          <p:nvPr/>
        </p:nvSpPr>
        <p:spPr>
          <a:xfrm>
            <a:off x="5040000" y="1980000"/>
            <a:ext cx="2160000" cy="288000"/>
          </a:xfrm>
          <a:prstGeom prst="rect">
            <a:avLst/>
          </a:prstGeom>
          <a:solidFill>
            <a:srgbClr val="F4A300"/>
          </a:solidFill>
        </p:spPr>
        <p:txBody>
          <a:bodyPr/>
          <a:lstStyle/>
          <a:p>
            <a:r>
              <a:rPr lang="en-US" sz="1400" b="1">
                <a:solidFill>
                  <a:srgbClr val="FFFFFF"/>
                </a:solidFill>
                <a:latin typeface="Calibri"/>
                <a:ea typeface="Calibri"/>
              </a:rPr>
              <a:t>HTTP REST (JSON)  ↕</a:t>
            </a:r>
          </a:p>
        </p:txBody>
      </p:sp>
      <p:sp>
        <p:nvSpPr>
          <p:cNvPr id="100027" name="Layer2"/>
          <p:cNvSpPr txBox="1"/>
          <p:nvPr/>
        </p:nvSpPr>
        <p:spPr>
          <a:xfrm>
            <a:off x="720000" y="2340000"/>
            <a:ext cx="10753200" cy="900000"/>
          </a:xfrm>
          <a:prstGeom prst="rect">
            <a:avLst/>
          </a:prstGeom>
          <a:solidFill>
            <a:srgbClr val="2E6DA4"/>
          </a:solidFill>
        </p:spPr>
        <p:txBody>
          <a:bodyPr/>
          <a:lstStyle/>
          <a:p>
            <a:r>
              <a:rPr lang="en-US" sz="1500">
                <a:solidFill>
                  <a:srgbClr val="FFFFFF"/>
                </a:solidFill>
                <a:latin typeface="Calibri"/>
                <a:ea typeface="Calibri"/>
              </a:rPr>
              <a:t>LAYER 2 — BACKEND (FastAPI · Python 3.14)</a:t>
            </a:r>
          </a:p>
          <a:p>
            <a:r>
              <a:rPr lang="en-US" sz="1500">
                <a:solidFill>
                  <a:srgbClr val="FFFFFF"/>
                </a:solidFill>
                <a:latin typeface="Calibri"/>
                <a:ea typeface="Calibri"/>
              </a:rPr>
              <a:t>/api/profile   /api/chat   /api/meal-plan   /api/shopping   /api/dashboard   /api/substitute   /api/ingest</a:t>
            </a:r>
          </a:p>
          <a:p>
            <a:r>
              <a:rPr lang="en-US" sz="1500">
                <a:solidFill>
                  <a:srgbClr val="FFFFFF"/>
                </a:solidFill>
                <a:latin typeface="Calibri"/>
                <a:ea typeface="Calibri"/>
              </a:rPr>
              <a:t>Pydantic validation  ·  CORS middleware  ·  Safety guardrails  ·  Medical disclaimer injection</a:t>
            </a:r>
          </a:p>
        </p:txBody>
      </p:sp>
      <p:sp>
        <p:nvSpPr>
          <p:cNvPr id="100028" name="Arrow2"/>
          <p:cNvSpPr txBox="1"/>
          <p:nvPr/>
        </p:nvSpPr>
        <p:spPr>
          <a:xfrm>
            <a:off x="5040000" y="3312000"/>
            <a:ext cx="2160000" cy="288000"/>
          </a:xfrm>
          <a:prstGeom prst="rect">
            <a:avLst/>
          </a:prstGeom>
          <a:solidFill>
            <a:srgbClr val="F4A300"/>
          </a:solidFill>
        </p:spPr>
        <p:txBody>
          <a:bodyPr/>
          <a:lstStyle/>
          <a:p>
            <a:r>
              <a:rPr lang="en-US" sz="1400" b="1">
                <a:solidFill>
                  <a:srgbClr val="FFFFFF"/>
                </a:solidFill>
                <a:latin typeface="Calibri"/>
                <a:ea typeface="Calibri"/>
              </a:rPr>
              <a:t>Function calls  ↕</a:t>
            </a:r>
          </a:p>
        </p:txBody>
      </p:sp>
      <p:sp>
        <p:nvSpPr>
          <p:cNvPr id="100029" name="Layer3a"/>
          <p:cNvSpPr txBox="1"/>
          <p:nvPr/>
        </p:nvSpPr>
        <p:spPr>
          <a:xfrm>
            <a:off x="720000" y="3672000"/>
            <a:ext cx="5040000" cy="1440000"/>
          </a:xfrm>
          <a:prstGeom prst="rect">
            <a:avLst/>
          </a:prstGeom>
          <a:solidFill>
            <a:srgbClr val="0D5C8C"/>
          </a:solidFill>
        </p:spPr>
        <p:txBody>
          <a:bodyPr/>
          <a:lstStyle/>
          <a:p>
            <a:r>
              <a:rPr lang="en-US" sz="1400">
                <a:solidFill>
                  <a:srgbClr val="FFFFFF"/>
                </a:solidFill>
                <a:latin typeface="Calibri"/>
                <a:ea typeface="Calibri"/>
              </a:rPr>
              <a:t>LAYER 3a — RAG PIPELINE</a:t>
            </a:r>
          </a:p>
          <a:p>
            <a:r>
              <a:rPr lang="en-US" sz="1400">
                <a:solidFill>
                  <a:srgbClr val="FFFFFF"/>
                </a:solidFill>
                <a:latin typeface="Calibri"/>
                <a:ea typeface="Calibri"/>
              </a:rPr>
              <a:t>LangChain RecursiveCharacterTextSplitter</a:t>
            </a:r>
          </a:p>
          <a:p>
            <a:r>
              <a:rPr lang="en-US" sz="1400">
                <a:solidFill>
                  <a:srgbClr val="FFFFFF"/>
                </a:solidFill>
                <a:latin typeface="Calibri"/>
                <a:ea typeface="Calibri"/>
              </a:rPr>
              <a:t>→ sentence-transformers (all-MiniLM-L6-v2)</a:t>
            </a:r>
          </a:p>
          <a:p>
            <a:r>
              <a:rPr lang="en-US" sz="1400">
                <a:solidFill>
                  <a:srgbClr val="FFFFFF"/>
                </a:solidFill>
                <a:latin typeface="Calibri"/>
                <a:ea typeface="Calibri"/>
              </a:rPr>
              <a:t>→ ChromaDB (cosine similarity, persistent)</a:t>
            </a:r>
          </a:p>
        </p:txBody>
      </p:sp>
      <p:sp>
        <p:nvSpPr>
          <p:cNvPr id="100030" name="Layer3b"/>
          <p:cNvSpPr txBox="1"/>
          <p:nvPr/>
        </p:nvSpPr>
        <p:spPr>
          <a:xfrm>
            <a:off x="6120000" y="3672000"/>
            <a:ext cx="5353200" cy="1440000"/>
          </a:xfrm>
          <a:prstGeom prst="rect">
            <a:avLst/>
          </a:prstGeom>
          <a:solidFill>
            <a:srgbClr val="0D5C8C"/>
          </a:solidFill>
        </p:spPr>
        <p:txBody>
          <a:bodyPr/>
          <a:lstStyle/>
          <a:p>
            <a:r>
              <a:rPr lang="en-US" sz="1400">
                <a:solidFill>
                  <a:srgbClr val="FFFFFF"/>
                </a:solidFill>
                <a:latin typeface="Calibri"/>
                <a:ea typeface="Calibri"/>
              </a:rPr>
              <a:t>LAYER 3b — LLM CLIENT</a:t>
            </a:r>
          </a:p>
          <a:p>
            <a:r>
              <a:rPr lang="en-US" sz="1400">
                <a:solidFill>
                  <a:srgbClr val="FFFFFF"/>
                </a:solidFill>
                <a:latin typeface="Calibri"/>
                <a:ea typeface="Calibri"/>
              </a:rPr>
              <a:t>ibm-watsonx-ai SDK</a:t>
            </a:r>
          </a:p>
          <a:p>
            <a:r>
              <a:rPr lang="en-US" sz="1400">
                <a:solidFill>
                  <a:srgbClr val="FFFFFF"/>
                </a:solidFill>
                <a:latin typeface="Calibri"/>
                <a:ea typeface="Calibri"/>
              </a:rPr>
              <a:t>→ IBM Granite 13B Instruct v2</a:t>
            </a:r>
          </a:p>
          <a:p>
            <a:r>
              <a:rPr lang="en-US" sz="1400">
                <a:solidFill>
                  <a:srgbClr val="FFFFFF"/>
                </a:solidFill>
                <a:latin typeface="Calibri"/>
                <a:ea typeface="Calibri"/>
              </a:rPr>
              <a:t>→ WatsonX.ai (us-south)</a:t>
            </a:r>
          </a:p>
          <a:p>
            <a:r>
              <a:rPr lang="en-US" sz="1400">
                <a:solidFill>
                  <a:srgbClr val="FFFFFF"/>
                </a:solidFill>
                <a:latin typeface="Calibri"/>
                <a:ea typeface="Calibri"/>
              </a:rPr>
              <a:t>Demo fallback when no credentials</a:t>
            </a:r>
          </a:p>
        </p:txBody>
      </p:sp>
      <p:sp>
        <p:nvSpPr>
          <p:cNvPr id="100031" name="DataNote"/>
          <p:cNvSpPr txBox="1"/>
          <p:nvPr/>
        </p:nvSpPr>
        <p:spPr>
          <a:xfrm>
            <a:off x="720000" y="5220000"/>
            <a:ext cx="10753200" cy="432000"/>
          </a:xfrm>
          <a:prstGeom prst="rect">
            <a:avLst/>
          </a:prstGeom>
          <a:solidFill>
            <a:srgbClr val="F0F4F8"/>
          </a:solidFill>
        </p:spPr>
        <p:txBody>
          <a:bodyPr/>
          <a:lstStyle/>
          <a:p>
            <a:r>
              <a:rPr lang="en-US" sz="1300">
                <a:solidFill>
                  <a:srgbClr val="444444"/>
                </a:solidFill>
                <a:latin typeface="Calibri"/>
                <a:ea typeface="Calibri"/>
              </a:rPr>
              <a:t>Local storage: data/profiles/ (JSON)  ·  data/chroma_db/ (vectors)  ·  data/knowledge_base/ (TXT docs)</a:t>
            </a:r>
          </a:p>
        </p:txBody>
      </p:sp>
      <p:sp>
        <p:nvSpPr>
          <p:cNvPr id="100032" name="Footer"/>
          <p:cNvSpPr txBox="1"/>
          <p:nvPr/>
        </p:nvSpPr>
        <p:spPr>
          <a:xfrm>
            <a:off x="0" y="6408000"/>
            <a:ext cx="12193200" cy="432000"/>
          </a:xfrm>
          <a:prstGeom prst="rect">
            <a:avLst/>
          </a:prstGeom>
          <a:solidFill>
            <a:srgbClr val="1A3A5C"/>
          </a:solidFill>
        </p:spPr>
        <p:txBody>
          <a:bodyPr/>
          <a:lstStyle/>
          <a:p>
            <a:r>
              <a:rPr lang="en-US" sz="1200">
                <a:solidFill>
                  <a:srgbClr val="AECDE8"/>
                </a:solidFill>
                <a:latin typeface="Calibri"/>
                <a:ea typeface="Calibri"/>
              </a:rPr>
              <a:t>Slide 6 of 25</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100033" name="Header"/>
          <p:cNvSpPr txBox="1"/>
          <p:nvPr/>
        </p:nvSpPr>
        <p:spPr>
          <a:xfrm>
            <a:off x="0" y="0"/>
            <a:ext cx="12193200" cy="792000"/>
          </a:xfrm>
          <a:prstGeom prst="rect">
            <a:avLst/>
          </a:prstGeom>
          <a:solidFill>
            <a:srgbClr val="1A3A5C"/>
          </a:solidFill>
        </p:spPr>
        <p:txBody>
          <a:bodyPr/>
          <a:lstStyle/>
          <a:p>
            <a:r>
              <a:rPr lang="en-US" sz="3000" b="1">
                <a:solidFill>
                  <a:srgbClr val="FFFFFF"/>
                </a:solidFill>
                <a:latin typeface="Calibri"/>
                <a:ea typeface="Calibri"/>
              </a:rPr>
              <a:t>5.  Software Development Lifecycle (SDLC)</a:t>
            </a:r>
          </a:p>
        </p:txBody>
      </p:sp>
      <p:sp>
        <p:nvSpPr>
          <p:cNvPr id="100034" name="Ph1"/>
          <p:cNvSpPr txBox="1"/>
          <p:nvPr/>
        </p:nvSpPr>
        <p:spPr>
          <a:xfrm>
            <a:off x="720000" y="1080000"/>
            <a:ext cx="1980000" cy="3780000"/>
          </a:xfrm>
          <a:prstGeom prst="rect">
            <a:avLst/>
          </a:prstGeom>
          <a:solidFill>
            <a:srgbClr val="1A3A5C"/>
          </a:solidFill>
        </p:spPr>
        <p:txBody>
          <a:bodyPr/>
          <a:lstStyle/>
          <a:p>
            <a:r>
              <a:rPr lang="en-US" sz="1400">
                <a:solidFill>
                  <a:srgbClr val="FFFFFF"/>
                </a:solidFill>
                <a:latin typeface="Calibri"/>
                <a:ea typeface="Calibri"/>
              </a:rPr>
              <a:t>Phase 1</a:t>
            </a:r>
          </a:p>
          <a:p>
            <a:r>
              <a:rPr lang="en-US" sz="1400">
                <a:solidFill>
                  <a:srgbClr val="FFFFFF"/>
                </a:solidFill>
                <a:latin typeface="Calibri"/>
                <a:ea typeface="Calibri"/>
              </a:rPr>
              <a:t>Requirements</a:t>
            </a:r>
          </a:p>
          <a:p>
            <a:r>
              <a:rPr lang="en-US" sz="1400">
                <a:solidFill>
                  <a:srgbClr val="FFFFFF"/>
                </a:solidFill>
                <a:latin typeface="Calibri"/>
                <a:ea typeface="Calibri"/>
              </a:rPr>
              <a:t>[DONE]</a:t>
            </a:r>
          </a:p>
          <a:p>
            <a:endParaRPr lang="en-US" sz="1400">
              <a:solidFill>
                <a:srgbClr val="FFFFFF"/>
              </a:solidFill>
              <a:latin typeface="Calibri"/>
              <a:ea typeface="Calibri"/>
            </a:endParaRPr>
          </a:p>
          <a:p>
            <a:r>
              <a:rPr lang="en-US" sz="1400">
                <a:solidFill>
                  <a:srgbClr val="FFFFFF"/>
                </a:solidFill>
                <a:latin typeface="Calibri"/>
                <a:ea typeface="Calibri"/>
              </a:rPr>
              <a:t>• Functional requirements</a:t>
            </a:r>
          </a:p>
          <a:p>
            <a:r>
              <a:rPr lang="en-US" sz="1400">
                <a:solidFill>
                  <a:srgbClr val="FFFFFF"/>
                </a:solidFill>
                <a:latin typeface="Calibri"/>
                <a:ea typeface="Calibri"/>
              </a:rPr>
              <a:t>• Non-functional requirements</a:t>
            </a:r>
          </a:p>
          <a:p>
            <a:r>
              <a:rPr lang="en-US" sz="1400">
                <a:solidFill>
                  <a:srgbClr val="FFFFFF"/>
                </a:solidFill>
                <a:latin typeface="Calibri"/>
                <a:ea typeface="Calibri"/>
              </a:rPr>
              <a:t>• Safety &amp; ethics constraints</a:t>
            </a:r>
          </a:p>
          <a:p>
            <a:r>
              <a:rPr lang="en-US" sz="1400">
                <a:solidFill>
                  <a:srgbClr val="FFFFFF"/>
                </a:solidFill>
                <a:latin typeface="Calibri"/>
                <a:ea typeface="Calibri"/>
              </a:rPr>
              <a:t>• Medical disclaimer policy</a:t>
            </a:r>
          </a:p>
        </p:txBody>
      </p:sp>
      <p:sp>
        <p:nvSpPr>
          <p:cNvPr id="100035" name="Ph2"/>
          <p:cNvSpPr txBox="1"/>
          <p:nvPr/>
        </p:nvSpPr>
        <p:spPr>
          <a:xfrm>
            <a:off x="2880000" y="1080000"/>
            <a:ext cx="1980000" cy="3780000"/>
          </a:xfrm>
          <a:prstGeom prst="rect">
            <a:avLst/>
          </a:prstGeom>
          <a:solidFill>
            <a:srgbClr val="2E6DA4"/>
          </a:solidFill>
        </p:spPr>
        <p:txBody>
          <a:bodyPr/>
          <a:lstStyle/>
          <a:p>
            <a:r>
              <a:rPr lang="en-US" sz="1400">
                <a:solidFill>
                  <a:srgbClr val="FFFFFF"/>
                </a:solidFill>
                <a:latin typeface="Calibri"/>
                <a:ea typeface="Calibri"/>
              </a:rPr>
              <a:t>Phase 2</a:t>
            </a:r>
          </a:p>
          <a:p>
            <a:r>
              <a:rPr lang="en-US" sz="1400">
                <a:solidFill>
                  <a:srgbClr val="FFFFFF"/>
                </a:solidFill>
                <a:latin typeface="Calibri"/>
                <a:ea typeface="Calibri"/>
              </a:rPr>
              <a:t>Architecture</a:t>
            </a:r>
          </a:p>
          <a:p>
            <a:r>
              <a:rPr lang="en-US" sz="1400">
                <a:solidFill>
                  <a:srgbClr val="FFFFFF"/>
                </a:solidFill>
                <a:latin typeface="Calibri"/>
                <a:ea typeface="Calibri"/>
              </a:rPr>
              <a:t>[DONE]</a:t>
            </a:r>
          </a:p>
          <a:p>
            <a:endParaRPr lang="en-US" sz="1400">
              <a:solidFill>
                <a:srgbClr val="FFFFFF"/>
              </a:solidFill>
              <a:latin typeface="Calibri"/>
              <a:ea typeface="Calibri"/>
            </a:endParaRPr>
          </a:p>
          <a:p>
            <a:r>
              <a:rPr lang="en-US" sz="1400">
                <a:solidFill>
                  <a:srgbClr val="FFFFFF"/>
                </a:solidFill>
                <a:latin typeface="Calibri"/>
                <a:ea typeface="Calibri"/>
              </a:rPr>
              <a:t>• 3-layer design</a:t>
            </a:r>
          </a:p>
          <a:p>
            <a:r>
              <a:rPr lang="en-US" sz="1400">
                <a:solidFill>
                  <a:srgbClr val="FFFFFF"/>
                </a:solidFill>
                <a:latin typeface="Calibri"/>
                <a:ea typeface="Calibri"/>
              </a:rPr>
              <a:t>• RAG pipeline</a:t>
            </a:r>
          </a:p>
          <a:p>
            <a:r>
              <a:rPr lang="en-US" sz="1400">
                <a:solidFill>
                  <a:srgbClr val="FFFFFF"/>
                </a:solidFill>
                <a:latin typeface="Calibri"/>
                <a:ea typeface="Calibri"/>
              </a:rPr>
              <a:t>• IBM Granite integration</a:t>
            </a:r>
          </a:p>
          <a:p>
            <a:r>
              <a:rPr lang="en-US" sz="1400">
                <a:solidFill>
                  <a:srgbClr val="FFFFFF"/>
                </a:solidFill>
                <a:latin typeface="Calibri"/>
                <a:ea typeface="Calibri"/>
              </a:rPr>
              <a:t>• Data flow diagram</a:t>
            </a:r>
          </a:p>
        </p:txBody>
      </p:sp>
      <p:sp>
        <p:nvSpPr>
          <p:cNvPr id="100036" name="Ph3"/>
          <p:cNvSpPr txBox="1"/>
          <p:nvPr/>
        </p:nvSpPr>
        <p:spPr>
          <a:xfrm>
            <a:off x="5040000" y="1080000"/>
            <a:ext cx="1980000" cy="3780000"/>
          </a:xfrm>
          <a:prstGeom prst="rect">
            <a:avLst/>
          </a:prstGeom>
          <a:solidFill>
            <a:srgbClr val="0D5C8C"/>
          </a:solidFill>
        </p:spPr>
        <p:txBody>
          <a:bodyPr/>
          <a:lstStyle/>
          <a:p>
            <a:r>
              <a:rPr lang="en-US" sz="1400">
                <a:solidFill>
                  <a:srgbClr val="FFFFFF"/>
                </a:solidFill>
                <a:latin typeface="Calibri"/>
                <a:ea typeface="Calibri"/>
              </a:rPr>
              <a:t>Phase 3</a:t>
            </a:r>
          </a:p>
          <a:p>
            <a:r>
              <a:rPr lang="en-US" sz="1400">
                <a:solidFill>
                  <a:srgbClr val="FFFFFF"/>
                </a:solidFill>
                <a:latin typeface="Calibri"/>
                <a:ea typeface="Calibri"/>
              </a:rPr>
              <a:t>Design</a:t>
            </a:r>
          </a:p>
          <a:p>
            <a:r>
              <a:rPr lang="en-US" sz="1400">
                <a:solidFill>
                  <a:srgbClr val="FFFFFF"/>
                </a:solidFill>
                <a:latin typeface="Calibri"/>
                <a:ea typeface="Calibri"/>
              </a:rPr>
              <a:t>[DONE]</a:t>
            </a:r>
          </a:p>
          <a:p>
            <a:endParaRPr lang="en-US" sz="1400">
              <a:solidFill>
                <a:srgbClr val="FFFFFF"/>
              </a:solidFill>
              <a:latin typeface="Calibri"/>
              <a:ea typeface="Calibri"/>
            </a:endParaRPr>
          </a:p>
          <a:p>
            <a:r>
              <a:rPr lang="en-US" sz="1400">
                <a:solidFill>
                  <a:srgbClr val="FFFFFF"/>
                </a:solidFill>
                <a:latin typeface="Calibri"/>
                <a:ea typeface="Calibri"/>
              </a:rPr>
              <a:t>• Prompt engineering</a:t>
            </a:r>
          </a:p>
          <a:p>
            <a:r>
              <a:rPr lang="en-US" sz="1400">
                <a:solidFill>
                  <a:srgbClr val="FFFFFF"/>
                </a:solidFill>
                <a:latin typeface="Calibri"/>
                <a:ea typeface="Calibri"/>
              </a:rPr>
              <a:t>• Pydantic models</a:t>
            </a:r>
          </a:p>
          <a:p>
            <a:r>
              <a:rPr lang="en-US" sz="1400">
                <a:solidFill>
                  <a:srgbClr val="FFFFFF"/>
                </a:solidFill>
                <a:latin typeface="Calibri"/>
                <a:ea typeface="Calibri"/>
              </a:rPr>
              <a:t>• API schema</a:t>
            </a:r>
          </a:p>
          <a:p>
            <a:r>
              <a:rPr lang="en-US" sz="1400">
                <a:solidFill>
                  <a:srgbClr val="FFFFFF"/>
                </a:solidFill>
                <a:latin typeface="Calibri"/>
                <a:ea typeface="Calibri"/>
              </a:rPr>
              <a:t>• UI wireframes</a:t>
            </a:r>
          </a:p>
        </p:txBody>
      </p:sp>
      <p:sp>
        <p:nvSpPr>
          <p:cNvPr id="100037" name="Ph4"/>
          <p:cNvSpPr txBox="1"/>
          <p:nvPr/>
        </p:nvSpPr>
        <p:spPr>
          <a:xfrm>
            <a:off x="7200000" y="1080000"/>
            <a:ext cx="1980000" cy="3780000"/>
          </a:xfrm>
          <a:prstGeom prst="rect">
            <a:avLst/>
          </a:prstGeom>
          <a:solidFill>
            <a:srgbClr val="0D4A7A"/>
          </a:solidFill>
        </p:spPr>
        <p:txBody>
          <a:bodyPr/>
          <a:lstStyle/>
          <a:p>
            <a:r>
              <a:rPr lang="en-US" sz="1400">
                <a:solidFill>
                  <a:srgbClr val="FFFFFF"/>
                </a:solidFill>
                <a:latin typeface="Calibri"/>
                <a:ea typeface="Calibri"/>
              </a:rPr>
              <a:t>Phase 4</a:t>
            </a:r>
          </a:p>
          <a:p>
            <a:r>
              <a:rPr lang="en-US" sz="1400">
                <a:solidFill>
                  <a:srgbClr val="FFFFFF"/>
                </a:solidFill>
                <a:latin typeface="Calibri"/>
                <a:ea typeface="Calibri"/>
              </a:rPr>
              <a:t>Implementation</a:t>
            </a:r>
          </a:p>
          <a:p>
            <a:r>
              <a:rPr lang="en-US" sz="1400">
                <a:solidFill>
                  <a:srgbClr val="FFFFFF"/>
                </a:solidFill>
                <a:latin typeface="Calibri"/>
                <a:ea typeface="Calibri"/>
              </a:rPr>
              <a:t>[DONE]</a:t>
            </a:r>
          </a:p>
          <a:p>
            <a:endParaRPr lang="en-US" sz="1400">
              <a:solidFill>
                <a:srgbClr val="FFFFFF"/>
              </a:solidFill>
              <a:latin typeface="Calibri"/>
              <a:ea typeface="Calibri"/>
            </a:endParaRPr>
          </a:p>
          <a:p>
            <a:r>
              <a:rPr lang="en-US" sz="1400">
                <a:solidFill>
                  <a:srgbClr val="FFFFFF"/>
                </a:solidFill>
                <a:latin typeface="Calibri"/>
                <a:ea typeface="Calibri"/>
              </a:rPr>
              <a:t>• backend/ (7 modules)</a:t>
            </a:r>
          </a:p>
          <a:p>
            <a:r>
              <a:rPr lang="en-US" sz="1400">
                <a:solidFill>
                  <a:srgbClr val="FFFFFF"/>
                </a:solidFill>
                <a:latin typeface="Calibri"/>
                <a:ea typeface="Calibri"/>
              </a:rPr>
              <a:t>• frontend/ (SPA)</a:t>
            </a:r>
          </a:p>
          <a:p>
            <a:r>
              <a:rPr lang="en-US" sz="1400">
                <a:solidFill>
                  <a:srgbClr val="FFFFFF"/>
                </a:solidFill>
                <a:latin typeface="Calibri"/>
                <a:ea typeface="Calibri"/>
              </a:rPr>
              <a:t>• data/ (5 KB docs)</a:t>
            </a:r>
          </a:p>
          <a:p>
            <a:r>
              <a:rPr lang="en-US" sz="1400">
                <a:solidFill>
                  <a:srgbClr val="FFFFFF"/>
                </a:solidFill>
                <a:latin typeface="Calibri"/>
                <a:ea typeface="Calibri"/>
              </a:rPr>
              <a:t>• tests/ (25 tests)</a:t>
            </a:r>
          </a:p>
        </p:txBody>
      </p:sp>
      <p:sp>
        <p:nvSpPr>
          <p:cNvPr id="100038" name="Ph5"/>
          <p:cNvSpPr txBox="1"/>
          <p:nvPr/>
        </p:nvSpPr>
        <p:spPr>
          <a:xfrm>
            <a:off x="9360000" y="1080000"/>
            <a:ext cx="2113200" cy="3780000"/>
          </a:xfrm>
          <a:prstGeom prst="rect">
            <a:avLst/>
          </a:prstGeom>
          <a:solidFill>
            <a:srgbClr val="083D64"/>
          </a:solidFill>
        </p:spPr>
        <p:txBody>
          <a:bodyPr/>
          <a:lstStyle/>
          <a:p>
            <a:r>
              <a:rPr lang="en-US" sz="1400">
                <a:solidFill>
                  <a:srgbClr val="FFFFFF"/>
                </a:solidFill>
                <a:latin typeface="Calibri"/>
                <a:ea typeface="Calibri"/>
              </a:rPr>
              <a:t>Phase 5</a:t>
            </a:r>
          </a:p>
          <a:p>
            <a:r>
              <a:rPr lang="en-US" sz="1400">
                <a:solidFill>
                  <a:srgbClr val="FFFFFF"/>
                </a:solidFill>
                <a:latin typeface="Calibri"/>
                <a:ea typeface="Calibri"/>
              </a:rPr>
              <a:t>Testing</a:t>
            </a:r>
          </a:p>
          <a:p>
            <a:r>
              <a:rPr lang="en-US" sz="1400">
                <a:solidFill>
                  <a:srgbClr val="FFFFFF"/>
                </a:solidFill>
                <a:latin typeface="Calibri"/>
                <a:ea typeface="Calibri"/>
              </a:rPr>
              <a:t>[DONE]</a:t>
            </a:r>
          </a:p>
          <a:p>
            <a:endParaRPr lang="en-US" sz="1400">
              <a:solidFill>
                <a:srgbClr val="FFFFFF"/>
              </a:solidFill>
              <a:latin typeface="Calibri"/>
              <a:ea typeface="Calibri"/>
            </a:endParaRPr>
          </a:p>
          <a:p>
            <a:r>
              <a:rPr lang="en-US" sz="1400">
                <a:solidFill>
                  <a:srgbClr val="FFFFFF"/>
                </a:solidFill>
                <a:latin typeface="Calibri"/>
                <a:ea typeface="Calibri"/>
              </a:rPr>
              <a:t>• 25 unit tests</a:t>
            </a:r>
          </a:p>
          <a:p>
            <a:r>
              <a:rPr lang="en-US" sz="1400">
                <a:solidFill>
                  <a:srgbClr val="FFFFFF"/>
                </a:solidFill>
                <a:latin typeface="Calibri"/>
                <a:ea typeface="Calibri"/>
              </a:rPr>
              <a:t>• All 25 pass</a:t>
            </a:r>
          </a:p>
          <a:p>
            <a:r>
              <a:rPr lang="en-US" sz="1400">
                <a:solidFill>
                  <a:srgbClr val="FFFFFF"/>
                </a:solidFill>
                <a:latin typeface="Calibri"/>
                <a:ea typeface="Calibri"/>
              </a:rPr>
              <a:t>• pytest 9.1.1</a:t>
            </a:r>
          </a:p>
          <a:p>
            <a:r>
              <a:rPr lang="en-US" sz="1400">
                <a:solidFill>
                  <a:srgbClr val="FFFFFF"/>
                </a:solidFill>
                <a:latin typeface="Calibri"/>
                <a:ea typeface="Calibri"/>
              </a:rPr>
              <a:t>• 6 test classes</a:t>
            </a:r>
          </a:p>
        </p:txBody>
      </p:sp>
      <p:sp>
        <p:nvSpPr>
          <p:cNvPr id="100039" name="PhNote"/>
          <p:cNvSpPr txBox="1"/>
          <p:nvPr/>
        </p:nvSpPr>
        <p:spPr>
          <a:xfrm>
            <a:off x="720000" y="5040000"/>
            <a:ext cx="10753200" cy="1008000"/>
          </a:xfrm>
          <a:prstGeom prst="rect">
            <a:avLst/>
          </a:prstGeom>
          <a:solidFill>
            <a:srgbClr val="FFF3E0"/>
          </a:solidFill>
        </p:spPr>
        <p:txBody>
          <a:bodyPr/>
          <a:lstStyle/>
          <a:p>
            <a:r>
              <a:rPr lang="en-US" sz="1500">
                <a:solidFill>
                  <a:srgbClr val="8B5E00"/>
                </a:solidFill>
                <a:latin typeface="Calibri"/>
                <a:ea typeface="Calibri"/>
              </a:rPr>
              <a:t>Phase 6 — Deployment [PLANNED]:  Docker → IBM Container Registry → IBM Cloud Code Engine</a:t>
            </a:r>
          </a:p>
          <a:p>
            <a:r>
              <a:rPr lang="en-US" sz="1500">
                <a:solidFill>
                  <a:srgbClr val="8B5E00"/>
                </a:solidFill>
                <a:latin typeface="Calibri"/>
                <a:ea typeface="Calibri"/>
              </a:rPr>
              <a:t>Phase 7 — Maintenance [PLANNED]:  Re-ingestion of updated nutrition guidelines, monthly guardrail review</a:t>
            </a:r>
          </a:p>
        </p:txBody>
      </p:sp>
      <p:sp>
        <p:nvSpPr>
          <p:cNvPr id="100040" name="Footer"/>
          <p:cNvSpPr txBox="1"/>
          <p:nvPr/>
        </p:nvSpPr>
        <p:spPr>
          <a:xfrm>
            <a:off x="0" y="6408000"/>
            <a:ext cx="12193200" cy="432000"/>
          </a:xfrm>
          <a:prstGeom prst="rect">
            <a:avLst/>
          </a:prstGeom>
          <a:solidFill>
            <a:srgbClr val="1A3A5C"/>
          </a:solidFill>
        </p:spPr>
        <p:txBody>
          <a:bodyPr/>
          <a:lstStyle/>
          <a:p>
            <a:r>
              <a:rPr lang="en-US" sz="1200">
                <a:solidFill>
                  <a:srgbClr val="AECDE8"/>
                </a:solidFill>
                <a:latin typeface="Calibri"/>
                <a:ea typeface="Calibri"/>
              </a:rPr>
              <a:t>Slide 7 of 25</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100041" name="Header"/>
          <p:cNvSpPr txBox="1"/>
          <p:nvPr/>
        </p:nvSpPr>
        <p:spPr>
          <a:xfrm>
            <a:off x="0" y="0"/>
            <a:ext cx="12193200" cy="792000"/>
          </a:xfrm>
          <a:prstGeom prst="rect">
            <a:avLst/>
          </a:prstGeom>
          <a:solidFill>
            <a:srgbClr val="1A3A5C"/>
          </a:solidFill>
        </p:spPr>
        <p:txBody>
          <a:bodyPr/>
          <a:lstStyle/>
          <a:p>
            <a:r>
              <a:rPr lang="en-US" sz="3000" b="1">
                <a:solidFill>
                  <a:srgbClr val="FFFFFF"/>
                </a:solidFill>
                <a:latin typeface="Calibri"/>
                <a:ea typeface="Calibri"/>
              </a:rPr>
              <a:t>6.  Document Ingestion &amp; Text Chunking</a:t>
            </a:r>
          </a:p>
        </p:txBody>
      </p:sp>
      <p:sp>
        <p:nvSpPr>
          <p:cNvPr id="100042" name="KBTitle"/>
          <p:cNvSpPr txBox="1"/>
          <p:nvPr/>
        </p:nvSpPr>
        <p:spPr>
          <a:xfrm>
            <a:off x="720000" y="1008000"/>
            <a:ext cx="10753200" cy="324000"/>
          </a:xfrm>
          <a:prstGeom prst="rect">
            <a:avLst/>
          </a:prstGeom>
          <a:solidFill>
            <a:srgbClr val="2E6DA4"/>
          </a:solidFill>
        </p:spPr>
        <p:txBody>
          <a:bodyPr/>
          <a:lstStyle/>
          <a:p>
            <a:r>
              <a:rPr lang="en-US" sz="1600" b="1">
                <a:solidFill>
                  <a:srgbClr val="FFFFFF"/>
                </a:solidFill>
                <a:latin typeface="Calibri"/>
                <a:ea typeface="Calibri"/>
              </a:rPr>
              <a:t>Knowledge Base Documents (5 files in data/knowledge_base/)</a:t>
            </a:r>
          </a:p>
        </p:txBody>
      </p:sp>
      <p:sp>
        <p:nvSpPr>
          <p:cNvPr id="100043" name="KBDocs"/>
          <p:cNvSpPr txBox="1"/>
          <p:nvPr/>
        </p:nvSpPr>
        <p:spPr>
          <a:xfrm>
            <a:off x="720000" y="1404000"/>
            <a:ext cx="10753200" cy="1440000"/>
          </a:xfrm>
          <a:prstGeom prst="rect">
            <a:avLst/>
          </a:prstGeom>
        </p:spPr>
        <p:txBody>
          <a:bodyPr/>
          <a:lstStyle/>
          <a:p>
            <a:r>
              <a:rPr lang="en-US" sz="1600">
                <a:solidFill>
                  <a:srgbClr val="1A3A5C"/>
                </a:solidFill>
                <a:latin typeface="Calibri"/>
                <a:ea typeface="Calibri"/>
              </a:rPr>
              <a:t>1. dip_diet_nutrition_guide.txt    — Core DIP Diet principles, meal timing, fasting windows</a:t>
            </a:r>
          </a:p>
          <a:p>
            <a:r>
              <a:rPr lang="en-US" sz="1600">
                <a:solidFill>
                  <a:srgbClr val="1A3A5C"/>
                </a:solidFill>
                <a:latin typeface="Calibri"/>
                <a:ea typeface="Calibri"/>
              </a:rPr>
              <a:t>2. food_nutrition_chart.txt             — Calorie, macro, and micronutrient data for common foods</a:t>
            </a:r>
          </a:p>
          <a:p>
            <a:r>
              <a:rPr lang="en-US" sz="1600">
                <a:solidFill>
                  <a:srgbClr val="1A3A5C"/>
                </a:solidFill>
                <a:latin typeface="Calibri"/>
                <a:ea typeface="Calibri"/>
              </a:rPr>
              <a:t>3. food_substitution_guide.txt        — Healthy swaps for allergies and dietary preferences</a:t>
            </a:r>
          </a:p>
          <a:p>
            <a:r>
              <a:rPr lang="en-US" sz="1600">
                <a:solidFill>
                  <a:srgbClr val="1A3A5C"/>
                </a:solidFill>
                <a:latin typeface="Calibri"/>
                <a:ea typeface="Calibri"/>
              </a:rPr>
              <a:t>4. health_conditions_diet_guide.txt — Diet advice for diabetes, hypertension, PCOS, etc.</a:t>
            </a:r>
          </a:p>
          <a:p>
            <a:r>
              <a:rPr lang="en-US" sz="1600">
                <a:solidFill>
                  <a:srgbClr val="1A3A5C"/>
                </a:solidFill>
                <a:latin typeface="Calibri"/>
                <a:ea typeface="Calibri"/>
              </a:rPr>
              <a:t>5. regional_food_guide.txt              — South Asian, Mediterranean, and Indian regional foods</a:t>
            </a:r>
          </a:p>
        </p:txBody>
      </p:sp>
      <p:sp>
        <p:nvSpPr>
          <p:cNvPr id="100044" name="ChunkTitle"/>
          <p:cNvSpPr txBox="1"/>
          <p:nvPr/>
        </p:nvSpPr>
        <p:spPr>
          <a:xfrm>
            <a:off x="720000" y="2952000"/>
            <a:ext cx="10753200" cy="324000"/>
          </a:xfrm>
          <a:prstGeom prst="rect">
            <a:avLst/>
          </a:prstGeom>
          <a:solidFill>
            <a:srgbClr val="2E6DA4"/>
          </a:solidFill>
        </p:spPr>
        <p:txBody>
          <a:bodyPr/>
          <a:lstStyle/>
          <a:p>
            <a:r>
              <a:rPr lang="en-US" sz="1600" b="1">
                <a:solidFill>
                  <a:srgbClr val="FFFFFF"/>
                </a:solidFill>
                <a:latin typeface="Calibri"/>
                <a:ea typeface="Calibri"/>
              </a:rPr>
              <a:t>Chunking Process (backend/ingest.py + rag_pipeline.py)</a:t>
            </a:r>
          </a:p>
        </p:txBody>
      </p:sp>
      <p:sp>
        <p:nvSpPr>
          <p:cNvPr id="100045" name="ChunkDetail"/>
          <p:cNvSpPr txBox="1"/>
          <p:nvPr/>
        </p:nvSpPr>
        <p:spPr>
          <a:xfrm>
            <a:off x="720000" y="3348000"/>
            <a:ext cx="10753200" cy="2160000"/>
          </a:xfrm>
          <a:prstGeom prst="rect">
            <a:avLst/>
          </a:prstGeom>
        </p:spPr>
        <p:txBody>
          <a:bodyPr/>
          <a:lstStyle/>
          <a:p>
            <a:r>
              <a:rPr lang="en-US" sz="1600">
                <a:solidFill>
                  <a:srgbClr val="1A3A5C"/>
                </a:solidFill>
                <a:latin typeface="Calibri"/>
                <a:ea typeface="Calibri"/>
              </a:rPr>
              <a:t>Step 1 — Load raw text files from data/knowledge_base/</a:t>
            </a:r>
          </a:p>
          <a:p>
            <a:r>
              <a:rPr lang="en-US" sz="1600">
                <a:solidFill>
                  <a:srgbClr val="1A3A5C"/>
                </a:solidFill>
                <a:latin typeface="Calibri"/>
                <a:ea typeface="Calibri"/>
              </a:rPr>
              <a:t>Step 2 — Split using LangChain RecursiveCharacterTextSplitter</a:t>
            </a:r>
          </a:p>
          <a:p>
            <a:r>
              <a:rPr lang="en-US" sz="1600">
                <a:solidFill>
                  <a:srgbClr val="1A3A5C"/>
                </a:solidFill>
                <a:latin typeface="Calibri"/>
                <a:ea typeface="Calibri"/>
              </a:rPr>
              <a:t>           Separators in order: paragraph break → line break → sentence → word → character</a:t>
            </a:r>
          </a:p>
          <a:p>
            <a:r>
              <a:rPr lang="en-US" sz="1600">
                <a:solidFill>
                  <a:srgbClr val="1A3A5C"/>
                </a:solidFill>
                <a:latin typeface="Calibri"/>
                <a:ea typeface="Calibri"/>
              </a:rPr>
              <a:t>           Chunk size: 512 tokens    |    Chunk overlap: 64 tokens</a:t>
            </a:r>
          </a:p>
          <a:p>
            <a:r>
              <a:rPr lang="en-US" sz="1600">
                <a:solidFill>
                  <a:srgbClr val="1A3A5C"/>
                </a:solidFill>
                <a:latin typeface="Calibri"/>
                <a:ea typeface="Calibri"/>
              </a:rPr>
              <a:t>Step 3 — Each chunk stored with metadata: { source, title, chunk_index }</a:t>
            </a:r>
          </a:p>
          <a:p>
            <a:r>
              <a:rPr lang="en-US" sz="1600">
                <a:solidFill>
                  <a:srgbClr val="1A3A5C"/>
                </a:solidFill>
                <a:latin typeface="Calibri"/>
                <a:ea typeface="Calibri"/>
              </a:rPr>
              <a:t>Step 4 — Documents are NOT re-ingested if already present in ChromaDB (idempotent)</a:t>
            </a:r>
          </a:p>
          <a:p>
            <a:r>
              <a:rPr lang="en-US" sz="1600">
                <a:solidFill>
                  <a:srgbClr val="1A3A5C"/>
                </a:solidFill>
                <a:latin typeface="Calibri"/>
                <a:ea typeface="Calibri"/>
              </a:rPr>
              <a:t>Step 5 — API endpoint POST /api/ingest allows live document addition at runtime</a:t>
            </a:r>
          </a:p>
        </p:txBody>
      </p:sp>
      <p:sp>
        <p:nvSpPr>
          <p:cNvPr id="100046" name="Footer"/>
          <p:cNvSpPr txBox="1"/>
          <p:nvPr/>
        </p:nvSpPr>
        <p:spPr>
          <a:xfrm>
            <a:off x="0" y="6408000"/>
            <a:ext cx="12193200" cy="432000"/>
          </a:xfrm>
          <a:prstGeom prst="rect">
            <a:avLst/>
          </a:prstGeom>
          <a:solidFill>
            <a:srgbClr val="1A3A5C"/>
          </a:solidFill>
        </p:spPr>
        <p:txBody>
          <a:bodyPr/>
          <a:lstStyle/>
          <a:p>
            <a:r>
              <a:rPr lang="en-US" sz="1200">
                <a:solidFill>
                  <a:srgbClr val="AECDE8"/>
                </a:solidFill>
                <a:latin typeface="Calibri"/>
                <a:ea typeface="Calibri"/>
              </a:rPr>
              <a:t>Slide 8 of 25</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100047" name="Header"/>
          <p:cNvSpPr txBox="1"/>
          <p:nvPr/>
        </p:nvSpPr>
        <p:spPr>
          <a:xfrm>
            <a:off x="0" y="0"/>
            <a:ext cx="12193200" cy="792000"/>
          </a:xfrm>
          <a:prstGeom prst="rect">
            <a:avLst/>
          </a:prstGeom>
          <a:solidFill>
            <a:srgbClr val="1A3A5C"/>
          </a:solidFill>
        </p:spPr>
        <p:txBody>
          <a:bodyPr/>
          <a:lstStyle/>
          <a:p>
            <a:r>
              <a:rPr lang="en-US" sz="3000" b="1">
                <a:solidFill>
                  <a:srgbClr val="FFFFFF"/>
                </a:solidFill>
                <a:latin typeface="Calibri"/>
                <a:ea typeface="Calibri"/>
              </a:rPr>
              <a:t>7.  Embeddings &amp; Vector Database</a:t>
            </a:r>
          </a:p>
        </p:txBody>
      </p:sp>
      <p:sp>
        <p:nvSpPr>
          <p:cNvPr id="100048" name="EmbedTitle"/>
          <p:cNvSpPr txBox="1"/>
          <p:nvPr/>
        </p:nvSpPr>
        <p:spPr>
          <a:xfrm>
            <a:off x="720000" y="1008000"/>
            <a:ext cx="10753200" cy="324000"/>
          </a:xfrm>
          <a:prstGeom prst="rect">
            <a:avLst/>
          </a:prstGeom>
          <a:solidFill>
            <a:srgbClr val="2E6DA4"/>
          </a:solidFill>
        </p:spPr>
        <p:txBody>
          <a:bodyPr/>
          <a:lstStyle/>
          <a:p>
            <a:r>
              <a:rPr lang="en-US" sz="1600" b="1">
                <a:solidFill>
                  <a:srgbClr val="FFFFFF"/>
                </a:solidFill>
                <a:latin typeface="Calibri"/>
                <a:ea typeface="Calibri"/>
              </a:rPr>
              <a:t>Embedding Model — sentence-transformers: all-MiniLM-L6-v2</a:t>
            </a:r>
          </a:p>
        </p:txBody>
      </p:sp>
      <p:sp>
        <p:nvSpPr>
          <p:cNvPr id="100049" name="EmbedDetail"/>
          <p:cNvSpPr txBox="1"/>
          <p:nvPr/>
        </p:nvSpPr>
        <p:spPr>
          <a:xfrm>
            <a:off x="720000" y="1404000"/>
            <a:ext cx="10753200" cy="1440000"/>
          </a:xfrm>
          <a:prstGeom prst="rect">
            <a:avLst/>
          </a:prstGeom>
        </p:spPr>
        <p:txBody>
          <a:bodyPr/>
          <a:lstStyle/>
          <a:p>
            <a:r>
              <a:rPr lang="en-US" sz="1600">
                <a:solidFill>
                  <a:srgbClr val="1A3A5C"/>
                </a:solidFill>
                <a:latin typeface="Calibri"/>
                <a:ea typeface="Calibri"/>
              </a:rPr>
              <a:t>• Lightweight transformer model (80 MB) — runs fully locally, no API key needed</a:t>
            </a:r>
          </a:p>
          <a:p>
            <a:r>
              <a:rPr lang="en-US" sz="1600">
                <a:solidFill>
                  <a:srgbClr val="1A3A5C"/>
                </a:solidFill>
                <a:latin typeface="Calibri"/>
                <a:ea typeface="Calibri"/>
              </a:rPr>
              <a:t>• Converts text chunks into 384-dimensional dense vectors</a:t>
            </a:r>
          </a:p>
          <a:p>
            <a:r>
              <a:rPr lang="en-US" sz="1600">
                <a:solidFill>
                  <a:srgbClr val="1A3A5C"/>
                </a:solidFill>
                <a:latin typeface="Calibri"/>
                <a:ea typeface="Calibri"/>
              </a:rPr>
              <a:t>• Captures semantic meaning — "low carb" and "reduced carbohydrates" have similar vectors</a:t>
            </a:r>
          </a:p>
          <a:p>
            <a:r>
              <a:rPr lang="en-US" sz="1600">
                <a:solidFill>
                  <a:srgbClr val="1A3A5C"/>
                </a:solidFill>
                <a:latin typeface="Calibri"/>
                <a:ea typeface="Calibri"/>
              </a:rPr>
              <a:t>• Loaded once at server startup and reused for all queries</a:t>
            </a:r>
          </a:p>
          <a:p>
            <a:r>
              <a:rPr lang="en-US" sz="1600">
                <a:solidFill>
                  <a:srgbClr val="1A3A5C"/>
                </a:solidFill>
                <a:latin typeface="Calibri"/>
                <a:ea typeface="Calibri"/>
              </a:rPr>
              <a:t>• Same model used for both ingestion and query embedding (ensures comparable vector space)</a:t>
            </a:r>
          </a:p>
        </p:txBody>
      </p:sp>
      <p:sp>
        <p:nvSpPr>
          <p:cNvPr id="100050" name="VDBTitle"/>
          <p:cNvSpPr txBox="1"/>
          <p:nvPr/>
        </p:nvSpPr>
        <p:spPr>
          <a:xfrm>
            <a:off x="720000" y="2952000"/>
            <a:ext cx="10753200" cy="324000"/>
          </a:xfrm>
          <a:prstGeom prst="rect">
            <a:avLst/>
          </a:prstGeom>
          <a:solidFill>
            <a:srgbClr val="2E6DA4"/>
          </a:solidFill>
        </p:spPr>
        <p:txBody>
          <a:bodyPr/>
          <a:lstStyle/>
          <a:p>
            <a:r>
              <a:rPr lang="en-US" sz="1600" b="1">
                <a:solidFill>
                  <a:srgbClr val="FFFFFF"/>
                </a:solidFill>
                <a:latin typeface="Calibri"/>
                <a:ea typeface="Calibri"/>
              </a:rPr>
              <a:t>Vector Database — ChromaDB (Persistent Local)</a:t>
            </a:r>
          </a:p>
        </p:txBody>
      </p:sp>
      <p:sp>
        <p:nvSpPr>
          <p:cNvPr id="100051" name="VDBDetail"/>
          <p:cNvSpPr txBox="1"/>
          <p:nvPr/>
        </p:nvSpPr>
        <p:spPr>
          <a:xfrm>
            <a:off x="720000" y="3348000"/>
            <a:ext cx="10753200" cy="1800000"/>
          </a:xfrm>
          <a:prstGeom prst="rect">
            <a:avLst/>
          </a:prstGeom>
        </p:spPr>
        <p:txBody>
          <a:bodyPr/>
          <a:lstStyle/>
          <a:p>
            <a:r>
              <a:rPr lang="en-US" sz="1600">
                <a:solidFill>
                  <a:srgbClr val="1A3A5C"/>
                </a:solidFill>
                <a:latin typeface="Calibri"/>
                <a:ea typeface="Calibri"/>
              </a:rPr>
              <a:t>• Collection: dip_diet_kb    |    Similarity metric: Cosine distance</a:t>
            </a:r>
          </a:p>
          <a:p>
            <a:r>
              <a:rPr lang="en-US" sz="1600">
                <a:solidFill>
                  <a:srgbClr val="1A3A5C"/>
                </a:solidFill>
                <a:latin typeface="Calibri"/>
                <a:ea typeface="Calibri"/>
              </a:rPr>
              <a:t>• Storage: data/chroma_db/ (SQLite + HNSW binary index files)</a:t>
            </a:r>
          </a:p>
          <a:p>
            <a:r>
              <a:rPr lang="en-US" sz="1600">
                <a:solidFill>
                  <a:srgbClr val="1A3A5C"/>
                </a:solidFill>
                <a:latin typeface="Calibri"/>
                <a:ea typeface="Calibri"/>
              </a:rPr>
              <a:t>• Each entry stores: document text + embedding vector + metadata (source, title, chunk_index)</a:t>
            </a:r>
          </a:p>
          <a:p>
            <a:r>
              <a:rPr lang="en-US" sz="1600">
                <a:solidFill>
                  <a:srgbClr val="1A3A5C"/>
                </a:solidFill>
                <a:latin typeface="Calibri"/>
                <a:ea typeface="Calibri"/>
              </a:rPr>
              <a:t>• Query returns top-K=4 most relevant chunks by cosine similarity</a:t>
            </a:r>
          </a:p>
          <a:p>
            <a:r>
              <a:rPr lang="en-US" sz="1600">
                <a:solidFill>
                  <a:srgbClr val="1A3A5C"/>
                </a:solidFill>
                <a:latin typeface="Calibri"/>
                <a:ea typeface="Calibri"/>
              </a:rPr>
              <a:t>• Anonymized telemetry disabled (Settings(anonymized_telemetry=False))</a:t>
            </a:r>
          </a:p>
          <a:p>
            <a:r>
              <a:rPr lang="en-US" sz="1600">
                <a:solidFill>
                  <a:srgbClr val="1A3A5C"/>
                </a:solidFill>
                <a:latin typeface="Calibri"/>
                <a:ea typeface="Calibri"/>
              </a:rPr>
              <a:t>• ChromaDB version 1.5.9 (installed in venv)</a:t>
            </a:r>
          </a:p>
        </p:txBody>
      </p:sp>
      <p:sp>
        <p:nvSpPr>
          <p:cNvPr id="100052" name="Note"/>
          <p:cNvSpPr txBox="1"/>
          <p:nvPr/>
        </p:nvSpPr>
        <p:spPr>
          <a:xfrm>
            <a:off x="720000" y="5220000"/>
            <a:ext cx="10753200" cy="540000"/>
          </a:xfrm>
          <a:prstGeom prst="rect">
            <a:avLst/>
          </a:prstGeom>
          <a:solidFill>
            <a:srgbClr val="FFF3E0"/>
          </a:solidFill>
        </p:spPr>
        <p:txBody>
          <a:bodyPr/>
          <a:lstStyle/>
          <a:p>
            <a:r>
              <a:rPr lang="en-US" sz="1400">
                <a:solidFill>
                  <a:srgbClr val="8B5E00"/>
                </a:solidFill>
                <a:latin typeface="Calibri"/>
                <a:ea typeface="Calibri"/>
              </a:rPr>
              <a:t>Note: The data/chroma_db/ directory is excluded from the git repository (.gitignore) and rebuilt automatically on first server startup.</a:t>
            </a:r>
          </a:p>
        </p:txBody>
      </p:sp>
      <p:sp>
        <p:nvSpPr>
          <p:cNvPr id="100053" name="Footer"/>
          <p:cNvSpPr txBox="1"/>
          <p:nvPr/>
        </p:nvSpPr>
        <p:spPr>
          <a:xfrm>
            <a:off x="0" y="6408000"/>
            <a:ext cx="12193200" cy="432000"/>
          </a:xfrm>
          <a:prstGeom prst="rect">
            <a:avLst/>
          </a:prstGeom>
          <a:solidFill>
            <a:srgbClr val="1A3A5C"/>
          </a:solidFill>
        </p:spPr>
        <p:txBody>
          <a:bodyPr/>
          <a:lstStyle/>
          <a:p>
            <a:r>
              <a:rPr lang="en-US" sz="1200">
                <a:solidFill>
                  <a:srgbClr val="AECDE8"/>
                </a:solidFill>
                <a:latin typeface="Calibri"/>
                <a:ea typeface="Calibri"/>
              </a:rPr>
              <a:t>Slide 9 of 25</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100054" name="Header"/>
          <p:cNvSpPr txBox="1"/>
          <p:nvPr/>
        </p:nvSpPr>
        <p:spPr>
          <a:xfrm>
            <a:off x="0" y="0"/>
            <a:ext cx="12193200" cy="792000"/>
          </a:xfrm>
          <a:prstGeom prst="rect">
            <a:avLst/>
          </a:prstGeom>
          <a:solidFill>
            <a:srgbClr val="1A3A5C"/>
          </a:solidFill>
        </p:spPr>
        <p:txBody>
          <a:bodyPr/>
          <a:lstStyle/>
          <a:p>
            <a:r>
              <a:rPr lang="en-US" sz="3200" b="1">
                <a:solidFill>
                  <a:srgbClr val="FFFFFF"/>
                </a:solidFill>
                <a:latin typeface="Calibri"/>
                <a:ea typeface="Calibri"/>
              </a:rPr>
              <a:t>8.  RAG Workflow</a:t>
            </a:r>
          </a:p>
        </p:txBody>
      </p:sp>
      <p:sp>
        <p:nvSpPr>
          <p:cNvPr id="100055" name="Step1"/>
          <p:cNvSpPr txBox="1"/>
          <p:nvPr/>
        </p:nvSpPr>
        <p:spPr>
          <a:xfrm>
            <a:off x="180000" y="1080000"/>
            <a:ext cx="1980000" cy="1620000"/>
          </a:xfrm>
          <a:prstGeom prst="rect">
            <a:avLst/>
          </a:prstGeom>
          <a:solidFill>
            <a:srgbClr val="1A3A5C"/>
          </a:solidFill>
        </p:spPr>
        <p:txBody>
          <a:bodyPr/>
          <a:lstStyle/>
          <a:p>
            <a:r>
              <a:rPr lang="en-US" sz="1400">
                <a:solidFill>
                  <a:srgbClr val="FFFFFF"/>
                </a:solidFill>
                <a:latin typeface="Calibri"/>
                <a:ea typeface="Calibri"/>
              </a:rPr>
              <a:t>1</a:t>
            </a:r>
          </a:p>
          <a:p>
            <a:r>
              <a:rPr lang="en-US" sz="1400">
                <a:solidFill>
                  <a:srgbClr val="FFFFFF"/>
                </a:solidFill>
                <a:latin typeface="Calibri"/>
                <a:ea typeface="Calibri"/>
              </a:rPr>
              <a:t>USER QUERY</a:t>
            </a:r>
          </a:p>
          <a:p>
            <a:r>
              <a:rPr lang="en-US" sz="1400">
                <a:solidFill>
                  <a:srgbClr val="FFFFFF"/>
                </a:solidFill>
                <a:latin typeface="Calibri"/>
                <a:ea typeface="Calibri"/>
              </a:rPr>
              <a:t>"What should I eat</a:t>
            </a:r>
          </a:p>
          <a:p>
            <a:r>
              <a:rPr lang="en-US" sz="1400">
                <a:solidFill>
                  <a:srgbClr val="FFFFFF"/>
                </a:solidFill>
                <a:latin typeface="Calibri"/>
                <a:ea typeface="Calibri"/>
              </a:rPr>
              <a:t>for high protein</a:t>
            </a:r>
          </a:p>
          <a:p>
            <a:r>
              <a:rPr lang="en-US" sz="1400">
                <a:solidFill>
                  <a:srgbClr val="FFFFFF"/>
                </a:solidFill>
                <a:latin typeface="Calibri"/>
                <a:ea typeface="Calibri"/>
              </a:rPr>
              <a:t>on a veg diet?"</a:t>
            </a:r>
          </a:p>
        </p:txBody>
      </p:sp>
      <p:sp>
        <p:nvSpPr>
          <p:cNvPr id="100056" name="Arr1"/>
          <p:cNvSpPr txBox="1"/>
          <p:nvPr/>
        </p:nvSpPr>
        <p:spPr>
          <a:xfrm>
            <a:off x="2232000" y="1728000"/>
            <a:ext cx="360000" cy="360000"/>
          </a:xfrm>
          <a:prstGeom prst="rect">
            <a:avLst/>
          </a:prstGeom>
          <a:solidFill>
            <a:srgbClr val="F4A300"/>
          </a:solidFill>
        </p:spPr>
        <p:txBody>
          <a:bodyPr/>
          <a:lstStyle/>
          <a:p>
            <a:r>
              <a:rPr lang="en-US" sz="2000" b="1">
                <a:solidFill>
                  <a:srgbClr val="FFFFFF"/>
                </a:solidFill>
                <a:latin typeface="Calibri"/>
                <a:ea typeface="Calibri"/>
              </a:rPr>
              <a:t>→</a:t>
            </a:r>
          </a:p>
        </p:txBody>
      </p:sp>
      <p:sp>
        <p:nvSpPr>
          <p:cNvPr id="100057" name="Step2"/>
          <p:cNvSpPr txBox="1"/>
          <p:nvPr/>
        </p:nvSpPr>
        <p:spPr>
          <a:xfrm>
            <a:off x="2628000" y="1080000"/>
            <a:ext cx="1980000" cy="1620000"/>
          </a:xfrm>
          <a:prstGeom prst="rect">
            <a:avLst/>
          </a:prstGeom>
          <a:solidFill>
            <a:srgbClr val="2E6DA4"/>
          </a:solidFill>
        </p:spPr>
        <p:txBody>
          <a:bodyPr/>
          <a:lstStyle/>
          <a:p>
            <a:r>
              <a:rPr lang="en-US" sz="1400">
                <a:solidFill>
                  <a:srgbClr val="FFFFFF"/>
                </a:solidFill>
                <a:latin typeface="Calibri"/>
                <a:ea typeface="Calibri"/>
              </a:rPr>
              <a:t>2</a:t>
            </a:r>
          </a:p>
          <a:p>
            <a:r>
              <a:rPr lang="en-US" sz="1400">
                <a:solidFill>
                  <a:srgbClr val="FFFFFF"/>
                </a:solidFill>
                <a:latin typeface="Calibri"/>
                <a:ea typeface="Calibri"/>
              </a:rPr>
              <a:t>SAFETY CHECK</a:t>
            </a:r>
          </a:p>
          <a:p>
            <a:r>
              <a:rPr lang="en-US" sz="1400">
                <a:solidFill>
                  <a:srgbClr val="FFFFFF"/>
                </a:solidFill>
                <a:latin typeface="Calibri"/>
                <a:ea typeface="Calibri"/>
              </a:rPr>
              <a:t>Is query safe?</a:t>
            </a:r>
          </a:p>
          <a:p>
            <a:r>
              <a:rPr lang="en-US" sz="1400">
                <a:solidFill>
                  <a:srgbClr val="FFFFFF"/>
                </a:solidFill>
                <a:latin typeface="Calibri"/>
                <a:ea typeface="Calibri"/>
              </a:rPr>
              <a:t>No medical Dx?</a:t>
            </a:r>
          </a:p>
          <a:p>
            <a:r>
              <a:rPr lang="en-US" sz="1400">
                <a:solidFill>
                  <a:srgbClr val="FFFFFF"/>
                </a:solidFill>
                <a:latin typeface="Calibri"/>
                <a:ea typeface="Calibri"/>
              </a:rPr>
              <a:t>No prescription?</a:t>
            </a:r>
          </a:p>
          <a:p>
            <a:r>
              <a:rPr lang="en-US" sz="1400">
                <a:solidFill>
                  <a:srgbClr val="FFFFFF"/>
                </a:solidFill>
                <a:latin typeface="Calibri"/>
                <a:ea typeface="Calibri"/>
              </a:rPr>
              <a:t>→ Safe: continue</a:t>
            </a:r>
          </a:p>
          <a:p>
            <a:r>
              <a:rPr lang="en-US" sz="1400">
                <a:solidFill>
                  <a:srgbClr val="FFFFFF"/>
                </a:solidFill>
                <a:latin typeface="Calibri"/>
                <a:ea typeface="Calibri"/>
              </a:rPr>
              <a:t>→ Unsafe: guardrail</a:t>
            </a:r>
          </a:p>
        </p:txBody>
      </p:sp>
      <p:sp>
        <p:nvSpPr>
          <p:cNvPr id="100058" name="Arr2"/>
          <p:cNvSpPr txBox="1"/>
          <p:nvPr/>
        </p:nvSpPr>
        <p:spPr>
          <a:xfrm>
            <a:off x="4680000" y="1728000"/>
            <a:ext cx="360000" cy="360000"/>
          </a:xfrm>
          <a:prstGeom prst="rect">
            <a:avLst/>
          </a:prstGeom>
          <a:solidFill>
            <a:srgbClr val="F4A300"/>
          </a:solidFill>
        </p:spPr>
        <p:txBody>
          <a:bodyPr/>
          <a:lstStyle/>
          <a:p>
            <a:r>
              <a:rPr lang="en-US" sz="2000" b="1">
                <a:solidFill>
                  <a:srgbClr val="FFFFFF"/>
                </a:solidFill>
                <a:latin typeface="Calibri"/>
                <a:ea typeface="Calibri"/>
              </a:rPr>
              <a:t>→</a:t>
            </a:r>
          </a:p>
        </p:txBody>
      </p:sp>
      <p:sp>
        <p:nvSpPr>
          <p:cNvPr id="100059" name="Step3"/>
          <p:cNvSpPr txBox="1"/>
          <p:nvPr/>
        </p:nvSpPr>
        <p:spPr>
          <a:xfrm>
            <a:off x="5076000" y="1080000"/>
            <a:ext cx="1980000" cy="1620000"/>
          </a:xfrm>
          <a:prstGeom prst="rect">
            <a:avLst/>
          </a:prstGeom>
          <a:solidFill>
            <a:srgbClr val="0D5C8C"/>
          </a:solidFill>
        </p:spPr>
        <p:txBody>
          <a:bodyPr/>
          <a:lstStyle/>
          <a:p>
            <a:r>
              <a:rPr lang="en-US" sz="1400">
                <a:solidFill>
                  <a:srgbClr val="FFFFFF"/>
                </a:solidFill>
                <a:latin typeface="Calibri"/>
                <a:ea typeface="Calibri"/>
              </a:rPr>
              <a:t>3</a:t>
            </a:r>
          </a:p>
          <a:p>
            <a:r>
              <a:rPr lang="en-US" sz="1400">
                <a:solidFill>
                  <a:srgbClr val="FFFFFF"/>
                </a:solidFill>
                <a:latin typeface="Calibri"/>
                <a:ea typeface="Calibri"/>
              </a:rPr>
              <a:t>EMBED QUERY</a:t>
            </a:r>
          </a:p>
          <a:p>
            <a:r>
              <a:rPr lang="en-US" sz="1400">
                <a:solidFill>
                  <a:srgbClr val="FFFFFF"/>
                </a:solidFill>
                <a:latin typeface="Calibri"/>
                <a:ea typeface="Calibri"/>
              </a:rPr>
              <a:t>all-MiniLM-L6-v2</a:t>
            </a:r>
          </a:p>
          <a:p>
            <a:r>
              <a:rPr lang="en-US" sz="1400">
                <a:solidFill>
                  <a:srgbClr val="FFFFFF"/>
                </a:solidFill>
                <a:latin typeface="Calibri"/>
                <a:ea typeface="Calibri"/>
              </a:rPr>
              <a:t>→ 384-dim vector</a:t>
            </a:r>
          </a:p>
          <a:p>
            <a:r>
              <a:rPr lang="en-US" sz="1400">
                <a:solidFill>
                  <a:srgbClr val="FFFFFF"/>
                </a:solidFill>
                <a:latin typeface="Calibri"/>
                <a:ea typeface="Calibri"/>
              </a:rPr>
              <a:t>(local, offline)</a:t>
            </a:r>
          </a:p>
        </p:txBody>
      </p:sp>
      <p:sp>
        <p:nvSpPr>
          <p:cNvPr id="100060" name="Arr3"/>
          <p:cNvSpPr txBox="1"/>
          <p:nvPr/>
        </p:nvSpPr>
        <p:spPr>
          <a:xfrm>
            <a:off x="7128000" y="1728000"/>
            <a:ext cx="360000" cy="360000"/>
          </a:xfrm>
          <a:prstGeom prst="rect">
            <a:avLst/>
          </a:prstGeom>
          <a:solidFill>
            <a:srgbClr val="F4A300"/>
          </a:solidFill>
        </p:spPr>
        <p:txBody>
          <a:bodyPr/>
          <a:lstStyle/>
          <a:p>
            <a:r>
              <a:rPr lang="en-US" sz="2000" b="1">
                <a:solidFill>
                  <a:srgbClr val="FFFFFF"/>
                </a:solidFill>
                <a:latin typeface="Calibri"/>
                <a:ea typeface="Calibri"/>
              </a:rPr>
              <a:t>→</a:t>
            </a:r>
          </a:p>
        </p:txBody>
      </p:sp>
      <p:sp>
        <p:nvSpPr>
          <p:cNvPr id="100061" name="Step4"/>
          <p:cNvSpPr txBox="1"/>
          <p:nvPr/>
        </p:nvSpPr>
        <p:spPr>
          <a:xfrm>
            <a:off x="7524000" y="1080000"/>
            <a:ext cx="1980000" cy="1620000"/>
          </a:xfrm>
          <a:prstGeom prst="rect">
            <a:avLst/>
          </a:prstGeom>
          <a:solidFill>
            <a:srgbClr val="0D4A7A"/>
          </a:solidFill>
        </p:spPr>
        <p:txBody>
          <a:bodyPr/>
          <a:lstStyle/>
          <a:p>
            <a:r>
              <a:rPr lang="en-US" sz="1400">
                <a:solidFill>
                  <a:srgbClr val="FFFFFF"/>
                </a:solidFill>
                <a:latin typeface="Calibri"/>
                <a:ea typeface="Calibri"/>
              </a:rPr>
              <a:t>4</a:t>
            </a:r>
          </a:p>
          <a:p>
            <a:r>
              <a:rPr lang="en-US" sz="1400">
                <a:solidFill>
                  <a:srgbClr val="FFFFFF"/>
                </a:solidFill>
                <a:latin typeface="Calibri"/>
                <a:ea typeface="Calibri"/>
              </a:rPr>
              <a:t>VECTOR SEARCH</a:t>
            </a:r>
          </a:p>
          <a:p>
            <a:r>
              <a:rPr lang="en-US" sz="1400">
                <a:solidFill>
                  <a:srgbClr val="FFFFFF"/>
                </a:solidFill>
                <a:latin typeface="Calibri"/>
                <a:ea typeface="Calibri"/>
              </a:rPr>
              <a:t>ChromaDB</a:t>
            </a:r>
          </a:p>
          <a:p>
            <a:r>
              <a:rPr lang="en-US" sz="1400">
                <a:solidFill>
                  <a:srgbClr val="FFFFFF"/>
                </a:solidFill>
                <a:latin typeface="Calibri"/>
                <a:ea typeface="Calibri"/>
              </a:rPr>
              <a:t>Cosine similarity</a:t>
            </a:r>
          </a:p>
          <a:p>
            <a:r>
              <a:rPr lang="en-US" sz="1400">
                <a:solidFill>
                  <a:srgbClr val="FFFFFF"/>
                </a:solidFill>
                <a:latin typeface="Calibri"/>
                <a:ea typeface="Calibri"/>
              </a:rPr>
              <a:t>Top-4 chunks</a:t>
            </a:r>
          </a:p>
          <a:p>
            <a:r>
              <a:rPr lang="en-US" sz="1400">
                <a:solidFill>
                  <a:srgbClr val="FFFFFF"/>
                </a:solidFill>
                <a:latin typeface="Calibri"/>
                <a:ea typeface="Calibri"/>
              </a:rPr>
              <a:t>returned</a:t>
            </a:r>
          </a:p>
        </p:txBody>
      </p:sp>
      <p:sp>
        <p:nvSpPr>
          <p:cNvPr id="100062" name="Arr4"/>
          <p:cNvSpPr txBox="1"/>
          <p:nvPr/>
        </p:nvSpPr>
        <p:spPr>
          <a:xfrm>
            <a:off x="9576000" y="1728000"/>
            <a:ext cx="360000" cy="360000"/>
          </a:xfrm>
          <a:prstGeom prst="rect">
            <a:avLst/>
          </a:prstGeom>
          <a:solidFill>
            <a:srgbClr val="F4A300"/>
          </a:solidFill>
        </p:spPr>
        <p:txBody>
          <a:bodyPr/>
          <a:lstStyle/>
          <a:p>
            <a:r>
              <a:rPr lang="en-US" sz="2000" b="1">
                <a:solidFill>
                  <a:srgbClr val="FFFFFF"/>
                </a:solidFill>
                <a:latin typeface="Calibri"/>
                <a:ea typeface="Calibri"/>
              </a:rPr>
              <a:t>→</a:t>
            </a:r>
          </a:p>
        </p:txBody>
      </p:sp>
      <p:sp>
        <p:nvSpPr>
          <p:cNvPr id="100063" name="Step5"/>
          <p:cNvSpPr txBox="1"/>
          <p:nvPr/>
        </p:nvSpPr>
        <p:spPr>
          <a:xfrm>
            <a:off x="9972000" y="1080000"/>
            <a:ext cx="2041200" cy="1620000"/>
          </a:xfrm>
          <a:prstGeom prst="rect">
            <a:avLst/>
          </a:prstGeom>
          <a:solidFill>
            <a:srgbClr val="083D64"/>
          </a:solidFill>
        </p:spPr>
        <p:txBody>
          <a:bodyPr/>
          <a:lstStyle/>
          <a:p>
            <a:r>
              <a:rPr lang="en-US" sz="1400">
                <a:solidFill>
                  <a:srgbClr val="FFFFFF"/>
                </a:solidFill>
                <a:latin typeface="Calibri"/>
                <a:ea typeface="Calibri"/>
              </a:rPr>
              <a:t>5</a:t>
            </a:r>
          </a:p>
          <a:p>
            <a:r>
              <a:rPr lang="en-US" sz="1400">
                <a:solidFill>
                  <a:srgbClr val="FFFFFF"/>
                </a:solidFill>
                <a:latin typeface="Calibri"/>
                <a:ea typeface="Calibri"/>
              </a:rPr>
              <a:t>PROMPT BUILD</a:t>
            </a:r>
          </a:p>
          <a:p>
            <a:r>
              <a:rPr lang="en-US" sz="1400">
                <a:solidFill>
                  <a:srgbClr val="FFFFFF"/>
                </a:solidFill>
                <a:latin typeface="Calibri"/>
                <a:ea typeface="Calibri"/>
              </a:rPr>
              <a:t>Profile context</a:t>
            </a:r>
          </a:p>
          <a:p>
            <a:r>
              <a:rPr lang="en-US" sz="1400">
                <a:solidFill>
                  <a:srgbClr val="FFFFFF"/>
                </a:solidFill>
                <a:latin typeface="Calibri"/>
                <a:ea typeface="Calibri"/>
              </a:rPr>
              <a:t>+ History (4 turns)</a:t>
            </a:r>
          </a:p>
          <a:p>
            <a:r>
              <a:rPr lang="en-US" sz="1400">
                <a:solidFill>
                  <a:srgbClr val="FFFFFF"/>
                </a:solidFill>
                <a:latin typeface="Calibri"/>
                <a:ea typeface="Calibri"/>
              </a:rPr>
              <a:t>+ Retrieved chunks</a:t>
            </a:r>
          </a:p>
          <a:p>
            <a:r>
              <a:rPr lang="en-US" sz="1400">
                <a:solidFill>
                  <a:srgbClr val="FFFFFF"/>
                </a:solidFill>
                <a:latin typeface="Calibri"/>
                <a:ea typeface="Calibri"/>
              </a:rPr>
              <a:t>[SOURCE 1..4]</a:t>
            </a:r>
          </a:p>
        </p:txBody>
      </p:sp>
      <p:sp>
        <p:nvSpPr>
          <p:cNvPr id="100064" name="Step6Box"/>
          <p:cNvSpPr txBox="1"/>
          <p:nvPr/>
        </p:nvSpPr>
        <p:spPr>
          <a:xfrm>
            <a:off x="720000" y="2880000"/>
            <a:ext cx="7200000" cy="1620000"/>
          </a:xfrm>
          <a:prstGeom prst="rect">
            <a:avLst/>
          </a:prstGeom>
          <a:solidFill>
            <a:srgbClr val="0D2137"/>
          </a:solidFill>
        </p:spPr>
        <p:txBody>
          <a:bodyPr/>
          <a:lstStyle/>
          <a:p>
            <a:r>
              <a:rPr lang="en-US" sz="1500">
                <a:solidFill>
                  <a:srgbClr val="FFFFFF"/>
                </a:solidFill>
                <a:latin typeface="Calibri"/>
                <a:ea typeface="Calibri"/>
              </a:rPr>
              <a:t>6 — IBM GRANITE LLM (ibm/granite-13b-instruct-v2 via WatsonX.ai)</a:t>
            </a:r>
          </a:p>
          <a:p>
            <a:r>
              <a:rPr lang="en-US" sz="1500">
                <a:solidFill>
                  <a:srgbClr val="FFFFFF"/>
                </a:solidFill>
                <a:latin typeface="Calibri"/>
                <a:ea typeface="Calibri"/>
              </a:rPr>
              <a:t>Generates a personalized, citation-grounded nutrition response.</a:t>
            </a:r>
          </a:p>
          <a:p>
            <a:r>
              <a:rPr lang="en-US" sz="1500">
                <a:solidFill>
                  <a:srgbClr val="FFFFFF"/>
                </a:solidFill>
                <a:latin typeface="Calibri"/>
                <a:ea typeface="Calibri"/>
              </a:rPr>
              <a:t>In Demo Mode: rule-based fallback generates a structured answer with disclaimer.</a:t>
            </a:r>
          </a:p>
          <a:p>
            <a:r>
              <a:rPr lang="en-US" sz="1500">
                <a:solidFill>
                  <a:srgbClr val="FFFFFF"/>
                </a:solidFill>
                <a:latin typeface="Calibri"/>
                <a:ea typeface="Calibri"/>
              </a:rPr>
              <a:t>Parameters: max_new_tokens=800  temperature=0.7  top_p=0.95  repetition_penalty=1.1</a:t>
            </a:r>
          </a:p>
        </p:txBody>
      </p:sp>
      <p:sp>
        <p:nvSpPr>
          <p:cNvPr id="100065" name="Step7Box"/>
          <p:cNvSpPr txBox="1"/>
          <p:nvPr/>
        </p:nvSpPr>
        <p:spPr>
          <a:xfrm>
            <a:off x="8280000" y="2880000"/>
            <a:ext cx="3733200" cy="1620000"/>
          </a:xfrm>
          <a:prstGeom prst="rect">
            <a:avLst/>
          </a:prstGeom>
          <a:solidFill>
            <a:srgbClr val="1A3A5C"/>
          </a:solidFill>
        </p:spPr>
        <p:txBody>
          <a:bodyPr/>
          <a:lstStyle/>
          <a:p>
            <a:r>
              <a:rPr lang="en-US" sz="1500">
                <a:solidFill>
                  <a:srgbClr val="FFFFFF"/>
                </a:solidFill>
                <a:latin typeface="Calibri"/>
                <a:ea typeface="Calibri"/>
              </a:rPr>
              <a:t>7 — RESPONSE RETURNED</a:t>
            </a:r>
          </a:p>
          <a:p>
            <a:r>
              <a:rPr lang="en-US" sz="1500">
                <a:solidFill>
                  <a:srgbClr val="FFFFFF"/>
                </a:solidFill>
                <a:latin typeface="Calibri"/>
                <a:ea typeface="Calibri"/>
              </a:rPr>
              <a:t>Response text  +  Source citations [SOURCE N]  +  Relevance scores  +  Medical disclaimer</a:t>
            </a:r>
          </a:p>
          <a:p>
            <a:r>
              <a:rPr lang="en-US" sz="1500">
                <a:solidFill>
                  <a:srgbClr val="FFFFFF"/>
                </a:solidFill>
                <a:latin typeface="Calibri"/>
                <a:ea typeface="Calibri"/>
              </a:rPr>
              <a:t>Sent back as ChatResponse JSON to the frontend chat interface.</a:t>
            </a:r>
          </a:p>
        </p:txBody>
      </p:sp>
      <p:sp>
        <p:nvSpPr>
          <p:cNvPr id="100066" name="Footer"/>
          <p:cNvSpPr txBox="1"/>
          <p:nvPr/>
        </p:nvSpPr>
        <p:spPr>
          <a:xfrm>
            <a:off x="0" y="6408000"/>
            <a:ext cx="12193200" cy="432000"/>
          </a:xfrm>
          <a:prstGeom prst="rect">
            <a:avLst/>
          </a:prstGeom>
          <a:solidFill>
            <a:srgbClr val="1A3A5C"/>
          </a:solidFill>
        </p:spPr>
        <p:txBody>
          <a:bodyPr/>
          <a:lstStyle/>
          <a:p>
            <a:r>
              <a:rPr lang="en-US" sz="1200">
                <a:solidFill>
                  <a:srgbClr val="AECDE8"/>
                </a:solidFill>
                <a:latin typeface="Calibri"/>
                <a:ea typeface="Calibri"/>
              </a:rPr>
              <a:t>Slide 10 of 25</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100067" name="Header"/>
          <p:cNvSpPr txBox="1"/>
          <p:nvPr/>
        </p:nvSpPr>
        <p:spPr>
          <a:xfrm>
            <a:off x="0" y="0"/>
            <a:ext cx="12193200" cy="792000"/>
          </a:xfrm>
          <a:prstGeom prst="rect">
            <a:avLst/>
          </a:prstGeom>
          <a:solidFill>
            <a:srgbClr val="1A3A5C"/>
          </a:solidFill>
        </p:spPr>
        <p:txBody>
          <a:bodyPr/>
          <a:lstStyle/>
          <a:p>
            <a:r>
              <a:rPr lang="en-US" sz="3000" b="1">
                <a:solidFill>
                  <a:srgbClr val="FFFFFF"/>
                </a:solidFill>
                <a:latin typeface="Calibri"/>
                <a:ea typeface="Calibri"/>
              </a:rPr>
              <a:t>9.  Semantic Search Explained</a:t>
            </a:r>
          </a:p>
        </p:txBody>
      </p:sp>
      <p:sp>
        <p:nvSpPr>
          <p:cNvPr id="100068" name="Compare"/>
          <p:cNvSpPr txBox="1"/>
          <p:nvPr/>
        </p:nvSpPr>
        <p:spPr>
          <a:xfrm>
            <a:off x="720000" y="1008000"/>
            <a:ext cx="10753200" cy="2160000"/>
          </a:xfrm>
          <a:prstGeom prst="rect">
            <a:avLst/>
          </a:prstGeom>
        </p:spPr>
        <p:txBody>
          <a:bodyPr/>
          <a:lstStyle/>
          <a:p>
            <a:r>
              <a:rPr lang="en-US" sz="1800">
                <a:solidFill>
                  <a:srgbClr val="1A3A5C"/>
                </a:solidFill>
                <a:latin typeface="Calibri"/>
                <a:ea typeface="Calibri"/>
              </a:rPr>
              <a:t>Keyword Search vs. Semantic Search</a:t>
            </a:r>
          </a:p>
          <a:p>
            <a:endParaRPr lang="en-US" sz="1800">
              <a:solidFill>
                <a:srgbClr val="1A3A5C"/>
              </a:solidFill>
              <a:latin typeface="Calibri"/>
              <a:ea typeface="Calibri"/>
            </a:endParaRPr>
          </a:p>
          <a:p>
            <a:r>
              <a:rPr lang="en-US" sz="1800">
                <a:solidFill>
                  <a:srgbClr val="1A3A5C"/>
                </a:solidFill>
                <a:latin typeface="Calibri"/>
                <a:ea typeface="Calibri"/>
              </a:rPr>
              <a:t>Keyword Search:   Query "protein vegetarian" matches only documents containing those exact words.</a:t>
            </a:r>
          </a:p>
          <a:p>
            <a:endParaRPr lang="en-US" sz="1800">
              <a:solidFill>
                <a:srgbClr val="1A3A5C"/>
              </a:solidFill>
              <a:latin typeface="Calibri"/>
              <a:ea typeface="Calibri"/>
            </a:endParaRPr>
          </a:p>
          <a:p>
            <a:r>
              <a:rPr lang="en-US" sz="1800">
                <a:solidFill>
                  <a:srgbClr val="1A3A5C"/>
                </a:solidFill>
                <a:latin typeface="Calibri"/>
                <a:ea typeface="Calibri"/>
              </a:rPr>
              <a:t>Semantic Search: Query "protein vegetarian" matches documents about "high-protein plant foods", "legume nutrition", "tofu macronutrients" — because their vectors are close in 384-dimensional space.</a:t>
            </a:r>
          </a:p>
          <a:p>
            <a:endParaRPr lang="en-US" sz="1800">
              <a:solidFill>
                <a:srgbClr val="1A3A5C"/>
              </a:solidFill>
              <a:latin typeface="Calibri"/>
              <a:ea typeface="Calibri"/>
            </a:endParaRPr>
          </a:p>
          <a:p>
            <a:r>
              <a:rPr lang="en-US" sz="1800">
                <a:solidFill>
                  <a:srgbClr val="1A3A5C"/>
                </a:solidFill>
                <a:latin typeface="Calibri"/>
                <a:ea typeface="Calibri"/>
              </a:rPr>
              <a:t>The DIP Diet Agent uses semantic search — this means a user asking "What can I eat to build muscle without meat?" correctly retrieves chunks about proteins, legumes, and high-protein vegetarian foods.</a:t>
            </a:r>
          </a:p>
        </p:txBody>
      </p:sp>
      <p:sp>
        <p:nvSpPr>
          <p:cNvPr id="100069" name="HowTitle"/>
          <p:cNvSpPr txBox="1"/>
          <p:nvPr/>
        </p:nvSpPr>
        <p:spPr>
          <a:xfrm>
            <a:off x="720000" y="3312000"/>
            <a:ext cx="10753200" cy="288000"/>
          </a:xfrm>
          <a:prstGeom prst="rect">
            <a:avLst/>
          </a:prstGeom>
          <a:solidFill>
            <a:srgbClr val="2E6DA4"/>
          </a:solidFill>
        </p:spPr>
        <p:txBody>
          <a:bodyPr/>
          <a:lstStyle/>
          <a:p>
            <a:r>
              <a:rPr lang="en-US" sz="1600" b="1">
                <a:solidFill>
                  <a:srgbClr val="FFFFFF"/>
                </a:solidFill>
                <a:latin typeface="Calibri"/>
                <a:ea typeface="Calibri"/>
              </a:rPr>
              <a:t>How Cosine Similarity Works (simply)</a:t>
            </a:r>
          </a:p>
        </p:txBody>
      </p:sp>
      <p:sp>
        <p:nvSpPr>
          <p:cNvPr id="100070" name="HowBody"/>
          <p:cNvSpPr txBox="1"/>
          <p:nvPr/>
        </p:nvSpPr>
        <p:spPr>
          <a:xfrm>
            <a:off x="720000" y="3672000"/>
            <a:ext cx="10753200" cy="1980000"/>
          </a:xfrm>
          <a:prstGeom prst="rect">
            <a:avLst/>
          </a:prstGeom>
        </p:spPr>
        <p:txBody>
          <a:bodyPr/>
          <a:lstStyle/>
          <a:p>
            <a:r>
              <a:rPr lang="en-US" sz="1700">
                <a:solidFill>
                  <a:srgbClr val="1A3A5C"/>
                </a:solidFill>
                <a:latin typeface="Calibri"/>
                <a:ea typeface="Calibri"/>
              </a:rPr>
              <a:t>• Each text chunk → 384-number vector (embedding)</a:t>
            </a:r>
          </a:p>
          <a:p>
            <a:r>
              <a:rPr lang="en-US" sz="1700">
                <a:solidFill>
                  <a:srgbClr val="1A3A5C"/>
                </a:solidFill>
                <a:latin typeface="Calibri"/>
                <a:ea typeface="Calibri"/>
              </a:rPr>
              <a:t>• Query → also converted to 384-number vector</a:t>
            </a:r>
          </a:p>
          <a:p>
            <a:r>
              <a:rPr lang="en-US" sz="1700">
                <a:solidFill>
                  <a:srgbClr val="1A3A5C"/>
                </a:solidFill>
                <a:latin typeface="Calibri"/>
                <a:ea typeface="Calibri"/>
              </a:rPr>
              <a:t>• Cosine similarity = how much two vectors "point in the same direction" (0 = unrelated, 1 = identical meaning)</a:t>
            </a:r>
          </a:p>
          <a:p>
            <a:r>
              <a:rPr lang="en-US" sz="1700">
                <a:solidFill>
                  <a:srgbClr val="1A3A5C"/>
                </a:solidFill>
                <a:latin typeface="Calibri"/>
                <a:ea typeface="Calibri"/>
              </a:rPr>
              <a:t>• ChromaDB ranks all chunks by cosine similarity to the query</a:t>
            </a:r>
          </a:p>
          <a:p>
            <a:r>
              <a:rPr lang="en-US" sz="1700">
                <a:solidFill>
                  <a:srgbClr val="1A3A5C"/>
                </a:solidFill>
                <a:latin typeface="Calibri"/>
                <a:ea typeface="Calibri"/>
              </a:rPr>
              <a:t>• Top-4 most similar chunks are returned as context for the LLM</a:t>
            </a:r>
          </a:p>
          <a:p>
            <a:r>
              <a:rPr lang="en-US" sz="1700">
                <a:solidFill>
                  <a:srgbClr val="1A3A5C"/>
                </a:solidFill>
                <a:latin typeface="Calibri"/>
                <a:ea typeface="Calibri"/>
              </a:rPr>
              <a:t>• Relevance score shown in UI = 1 - cosine_distance (higher is better)</a:t>
            </a:r>
          </a:p>
        </p:txBody>
      </p:sp>
      <p:sp>
        <p:nvSpPr>
          <p:cNvPr id="100071" name="Footer"/>
          <p:cNvSpPr txBox="1"/>
          <p:nvPr/>
        </p:nvSpPr>
        <p:spPr>
          <a:xfrm>
            <a:off x="0" y="6408000"/>
            <a:ext cx="12193200" cy="432000"/>
          </a:xfrm>
          <a:prstGeom prst="rect">
            <a:avLst/>
          </a:prstGeom>
          <a:solidFill>
            <a:srgbClr val="1A3A5C"/>
          </a:solidFill>
        </p:spPr>
        <p:txBody>
          <a:bodyPr/>
          <a:lstStyle/>
          <a:p>
            <a:r>
              <a:rPr lang="en-US" sz="1200">
                <a:solidFill>
                  <a:srgbClr val="AECDE8"/>
                </a:solidFill>
                <a:latin typeface="Calibri"/>
                <a:ea typeface="Calibri"/>
              </a:rPr>
              <a:t>Slide 11 of 25</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100072" name="Header"/>
          <p:cNvSpPr txBox="1"/>
          <p:nvPr/>
        </p:nvSpPr>
        <p:spPr>
          <a:xfrm>
            <a:off x="0" y="0"/>
            <a:ext cx="12193200" cy="792000"/>
          </a:xfrm>
          <a:prstGeom prst="rect">
            <a:avLst/>
          </a:prstGeom>
          <a:solidFill>
            <a:srgbClr val="1A3A5C"/>
          </a:solidFill>
        </p:spPr>
        <p:txBody>
          <a:bodyPr/>
          <a:lstStyle/>
          <a:p>
            <a:r>
              <a:rPr lang="en-US" sz="3000" b="1">
                <a:solidFill>
                  <a:srgbClr val="FFFFFF"/>
                </a:solidFill>
                <a:latin typeface="Calibri"/>
                <a:ea typeface="Calibri"/>
              </a:rPr>
              <a:t>10.  Conversational Q&amp;A Chat  [DONE]</a:t>
            </a:r>
          </a:p>
        </p:txBody>
      </p:sp>
      <p:sp>
        <p:nvSpPr>
          <p:cNvPr id="100073" name="HowItWorks"/>
          <p:cNvSpPr txBox="1"/>
          <p:nvPr/>
        </p:nvSpPr>
        <p:spPr>
          <a:xfrm>
            <a:off x="720000" y="1008000"/>
            <a:ext cx="5400000" cy="4320000"/>
          </a:xfrm>
          <a:prstGeom prst="rect">
            <a:avLst/>
          </a:prstGeom>
        </p:spPr>
        <p:txBody>
          <a:bodyPr/>
          <a:lstStyle/>
          <a:p>
            <a:r>
              <a:rPr lang="en-US" sz="1600">
                <a:solidFill>
                  <a:srgbClr val="1A3A5C"/>
                </a:solidFill>
                <a:latin typeface="Calibri"/>
                <a:ea typeface="Calibri"/>
              </a:rPr>
              <a:t>How the Chat Works</a:t>
            </a:r>
          </a:p>
          <a:p>
            <a:endParaRPr lang="en-US" sz="1600">
              <a:solidFill>
                <a:srgbClr val="1A3A5C"/>
              </a:solidFill>
              <a:latin typeface="Calibri"/>
              <a:ea typeface="Calibri"/>
            </a:endParaRPr>
          </a:p>
          <a:p>
            <a:r>
              <a:rPr lang="en-US" sz="1600">
                <a:solidFill>
                  <a:srgbClr val="1A3A5C"/>
                </a:solidFill>
                <a:latin typeface="Calibri"/>
                <a:ea typeface="Calibri"/>
              </a:rPr>
              <a:t>• User types a nutrition question in the browser chat interface</a:t>
            </a:r>
          </a:p>
          <a:p>
            <a:r>
              <a:rPr lang="en-US" sz="1600">
                <a:solidFill>
                  <a:srgbClr val="1A3A5C"/>
                </a:solidFill>
                <a:latin typeface="Calibri"/>
                <a:ea typeface="Calibri"/>
              </a:rPr>
              <a:t>• Frontend (app.js) sends POST /api/chat with { user_id, message, conversation_history }</a:t>
            </a:r>
          </a:p>
          <a:p>
            <a:r>
              <a:rPr lang="en-US" sz="1600">
                <a:solidFill>
                  <a:srgbClr val="1A3A5C"/>
                </a:solidFill>
                <a:latin typeface="Calibri"/>
                <a:ea typeface="Calibri"/>
              </a:rPr>
              <a:t>• Backend loads user profile from data/profiles/{user_id}.json</a:t>
            </a:r>
          </a:p>
          <a:p>
            <a:r>
              <a:rPr lang="en-US" sz="1600">
                <a:solidFill>
                  <a:srgbClr val="1A3A5C"/>
                </a:solidFill>
                <a:latin typeface="Calibri"/>
                <a:ea typeface="Calibri"/>
              </a:rPr>
              <a:t>• RAG pipeline: safety check → semantic retrieval → prompt construction → LLM generation</a:t>
            </a:r>
          </a:p>
          <a:p>
            <a:r>
              <a:rPr lang="en-US" sz="1600">
                <a:solidFill>
                  <a:srgbClr val="1A3A5C"/>
                </a:solidFill>
                <a:latin typeface="Calibri"/>
                <a:ea typeface="Calibri"/>
              </a:rPr>
              <a:t>• Response returned: { response, sources[], disclaimer, is_safe }</a:t>
            </a:r>
          </a:p>
          <a:p>
            <a:r>
              <a:rPr lang="en-US" sz="1600">
                <a:solidFill>
                  <a:srgbClr val="1A3A5C"/>
                </a:solidFill>
                <a:latin typeface="Calibri"/>
                <a:ea typeface="Calibri"/>
              </a:rPr>
              <a:t>• Frontend renders: answer text + source citations with relevance scores + disclaimer banner</a:t>
            </a:r>
          </a:p>
          <a:p>
            <a:r>
              <a:rPr lang="en-US" sz="1600">
                <a:solidFill>
                  <a:srgbClr val="1A3A5C"/>
                </a:solidFill>
                <a:latin typeface="Calibri"/>
                <a:ea typeface="Calibri"/>
              </a:rPr>
              <a:t>• Last 4 conversation turns kept in history for follow-up context</a:t>
            </a:r>
          </a:p>
        </p:txBody>
      </p:sp>
      <p:sp>
        <p:nvSpPr>
          <p:cNvPr id="100074" name="UIDesc"/>
          <p:cNvSpPr txBox="1"/>
          <p:nvPr/>
        </p:nvSpPr>
        <p:spPr>
          <a:xfrm>
            <a:off x="6480000" y="1008000"/>
            <a:ext cx="5040000" cy="4320000"/>
          </a:xfrm>
          <a:prstGeom prst="rect">
            <a:avLst/>
          </a:prstGeom>
          <a:solidFill>
            <a:srgbClr val="E8F4FD"/>
          </a:solidFill>
        </p:spPr>
        <p:txBody>
          <a:bodyPr/>
          <a:lstStyle/>
          <a:p>
            <a:r>
              <a:rPr lang="en-US" sz="1400">
                <a:solidFill>
                  <a:srgbClr val="1A3A5C"/>
                </a:solidFill>
                <a:latin typeface="Courier New"/>
                <a:ea typeface="Courier New"/>
              </a:rPr>
              <a:t>Frontend Chat UI</a:t>
            </a:r>
          </a:p>
          <a:p>
            <a:endParaRPr lang="en-US" sz="1400">
              <a:solidFill>
                <a:srgbClr val="1A3A5C"/>
              </a:solidFill>
              <a:latin typeface="Courier New"/>
              <a:ea typeface="Courier New"/>
            </a:endParaRPr>
          </a:p>
          <a:p>
            <a:r>
              <a:rPr lang="en-US" sz="1400">
                <a:solidFill>
                  <a:srgbClr val="1A3A5C"/>
                </a:solidFill>
                <a:latin typeface="Courier New"/>
                <a:ea typeface="Courier New"/>
              </a:rPr>
              <a:t>┌─────────────────────────┐</a:t>
            </a:r>
          </a:p>
          <a:p>
            <a:r>
              <a:rPr lang="en-US" sz="1400">
                <a:solidFill>
                  <a:srgbClr val="1A3A5C"/>
                </a:solidFill>
                <a:latin typeface="Courier New"/>
                <a:ea typeface="Courier New"/>
              </a:rPr>
              <a:t>│ DIP Diet Agent  [Online] │</a:t>
            </a:r>
          </a:p>
          <a:p>
            <a:r>
              <a:rPr lang="en-US" sz="1400">
                <a:solidFill>
                  <a:srgbClr val="1A3A5C"/>
                </a:solidFill>
                <a:latin typeface="Courier New"/>
                <a:ea typeface="Courier New"/>
              </a:rPr>
              <a:t>│  IBM Granite LLM · RAG   │</a:t>
            </a:r>
          </a:p>
          <a:p>
            <a:r>
              <a:rPr lang="en-US" sz="1400">
                <a:solidFill>
                  <a:srgbClr val="1A3A5C"/>
                </a:solidFill>
                <a:latin typeface="Courier New"/>
                <a:ea typeface="Courier New"/>
              </a:rPr>
              <a:t>├─────────────────────────┤</a:t>
            </a:r>
          </a:p>
          <a:p>
            <a:r>
              <a:rPr lang="en-US" sz="1400">
                <a:solidFill>
                  <a:srgbClr val="1A3A5C"/>
                </a:solidFill>
                <a:latin typeface="Courier New"/>
                <a:ea typeface="Courier New"/>
              </a:rPr>
              <a:t>│ User: What foods are     │</a:t>
            </a:r>
          </a:p>
          <a:p>
            <a:r>
              <a:rPr lang="en-US" sz="1400">
                <a:solidFill>
                  <a:srgbClr val="1A3A5C"/>
                </a:solidFill>
                <a:latin typeface="Courier New"/>
                <a:ea typeface="Courier New"/>
              </a:rPr>
              <a:t>│ high in protein for a    │</a:t>
            </a:r>
          </a:p>
          <a:p>
            <a:r>
              <a:rPr lang="en-US" sz="1400">
                <a:solidFill>
                  <a:srgbClr val="1A3A5C"/>
                </a:solidFill>
                <a:latin typeface="Courier New"/>
                <a:ea typeface="Courier New"/>
              </a:rPr>
              <a:t>│ vegetarian?              │</a:t>
            </a:r>
          </a:p>
          <a:p>
            <a:r>
              <a:rPr lang="en-US" sz="1400">
                <a:solidFill>
                  <a:srgbClr val="1A3A5C"/>
                </a:solidFill>
                <a:latin typeface="Courier New"/>
                <a:ea typeface="Courier New"/>
              </a:rPr>
              <a:t>│                          │</a:t>
            </a:r>
          </a:p>
          <a:p>
            <a:r>
              <a:rPr lang="en-US" sz="1400">
                <a:solidFill>
                  <a:srgbClr val="1A3A5C"/>
                </a:solidFill>
                <a:latin typeface="Courier New"/>
                <a:ea typeface="Courier New"/>
              </a:rPr>
              <a:t>│ Agent: [RAG response]    │</a:t>
            </a:r>
          </a:p>
          <a:p>
            <a:r>
              <a:rPr lang="en-US" sz="1400">
                <a:solidFill>
                  <a:srgbClr val="1A3A5C"/>
                </a:solidFill>
                <a:latin typeface="Courier New"/>
                <a:ea typeface="Courier New"/>
              </a:rPr>
              <a:t>│  Source: food_nutrition  │</a:t>
            </a:r>
          </a:p>
          <a:p>
            <a:r>
              <a:rPr lang="en-US" sz="1400">
                <a:solidFill>
                  <a:srgbClr val="1A3A5C"/>
                </a:solidFill>
                <a:latin typeface="Courier New"/>
                <a:ea typeface="Courier New"/>
              </a:rPr>
              <a:t>│  Source: dip_diet_guide  │</a:t>
            </a:r>
          </a:p>
          <a:p>
            <a:r>
              <a:rPr lang="en-US" sz="1400">
                <a:solidFill>
                  <a:srgbClr val="1A3A5C"/>
                </a:solidFill>
                <a:latin typeface="Courier New"/>
                <a:ea typeface="Courier New"/>
              </a:rPr>
              <a:t>│  Relevance: 0.847        │</a:t>
            </a:r>
          </a:p>
          <a:p>
            <a:r>
              <a:rPr lang="en-US" sz="1400">
                <a:solidFill>
                  <a:srgbClr val="1A3A5C"/>
                </a:solidFill>
                <a:latin typeface="Courier New"/>
                <a:ea typeface="Courier New"/>
              </a:rPr>
              <a:t>│                          │</a:t>
            </a:r>
          </a:p>
          <a:p>
            <a:r>
              <a:rPr lang="en-US" sz="1400">
                <a:solidFill>
                  <a:srgbClr val="1A3A5C"/>
                </a:solidFill>
                <a:latin typeface="Courier New"/>
                <a:ea typeface="Courier New"/>
              </a:rPr>
              <a:t>│ ⚕ Medical Disclaimer     │</a:t>
            </a:r>
          </a:p>
          <a:p>
            <a:r>
              <a:rPr lang="en-US" sz="1400">
                <a:solidFill>
                  <a:srgbClr val="1A3A5C"/>
                </a:solidFill>
                <a:latin typeface="Courier New"/>
                <a:ea typeface="Courier New"/>
              </a:rPr>
              <a:t>└─────────────────────────┘</a:t>
            </a:r>
          </a:p>
          <a:p>
            <a:endParaRPr lang="en-US" sz="1400">
              <a:solidFill>
                <a:srgbClr val="1A3A5C"/>
              </a:solidFill>
              <a:latin typeface="Courier New"/>
              <a:ea typeface="Courier New"/>
            </a:endParaRPr>
          </a:p>
          <a:p>
            <a:r>
              <a:rPr lang="en-US" sz="1400">
                <a:solidFill>
                  <a:srgbClr val="1A3A5C"/>
                </a:solidFill>
                <a:latin typeface="Courier New"/>
                <a:ea typeface="Courier New"/>
              </a:rPr>
              <a:t>[Note: UI renders in browser</a:t>
            </a:r>
          </a:p>
          <a:p>
            <a:r>
              <a:rPr lang="en-US" sz="1400">
                <a:solidFill>
                  <a:srgbClr val="1A3A5C"/>
                </a:solidFill>
                <a:latin typeface="Courier New"/>
                <a:ea typeface="Courier New"/>
              </a:rPr>
              <a:t>at http://localhost:8000]</a:t>
            </a:r>
          </a:p>
        </p:txBody>
      </p:sp>
      <p:sp>
        <p:nvSpPr>
          <p:cNvPr id="100075" name="Footer"/>
          <p:cNvSpPr txBox="1"/>
          <p:nvPr/>
        </p:nvSpPr>
        <p:spPr>
          <a:xfrm>
            <a:off x="0" y="6408000"/>
            <a:ext cx="12193200" cy="432000"/>
          </a:xfrm>
          <a:prstGeom prst="rect">
            <a:avLst/>
          </a:prstGeom>
          <a:solidFill>
            <a:srgbClr val="1A3A5C"/>
          </a:solidFill>
        </p:spPr>
        <p:txBody>
          <a:bodyPr/>
          <a:lstStyle/>
          <a:p>
            <a:r>
              <a:rPr lang="en-US" sz="1200">
                <a:solidFill>
                  <a:srgbClr val="AECDE8"/>
                </a:solidFill>
                <a:latin typeface="Calibri"/>
                <a:ea typeface="Calibri"/>
              </a:rPr>
              <a:t>Slide 12 of 25</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100076" name="Header"/>
          <p:cNvSpPr txBox="1"/>
          <p:nvPr/>
        </p:nvSpPr>
        <p:spPr>
          <a:xfrm>
            <a:off x="0" y="0"/>
            <a:ext cx="12193200" cy="792000"/>
          </a:xfrm>
          <a:prstGeom prst="rect">
            <a:avLst/>
          </a:prstGeom>
          <a:solidFill>
            <a:srgbClr val="1A3A5C"/>
          </a:solidFill>
        </p:spPr>
        <p:txBody>
          <a:bodyPr/>
          <a:lstStyle/>
          <a:p>
            <a:r>
              <a:rPr lang="en-US" sz="3000" b="1">
                <a:solidFill>
                  <a:srgbClr val="FFFFFF"/>
                </a:solidFill>
                <a:latin typeface="Calibri"/>
                <a:ea typeface="Calibri"/>
              </a:rPr>
              <a:t>11.  Personalized Meal Plans  [DONE]</a:t>
            </a:r>
          </a:p>
        </p:txBody>
      </p:sp>
      <p:sp>
        <p:nvSpPr>
          <p:cNvPr id="100077" name="HowIt"/>
          <p:cNvSpPr txBox="1"/>
          <p:nvPr/>
        </p:nvSpPr>
        <p:spPr>
          <a:xfrm>
            <a:off x="720000" y="1008000"/>
            <a:ext cx="5760000" cy="3960000"/>
          </a:xfrm>
          <a:prstGeom prst="rect">
            <a:avLst/>
          </a:prstGeom>
        </p:spPr>
        <p:txBody>
          <a:bodyPr/>
          <a:lstStyle/>
          <a:p>
            <a:r>
              <a:rPr lang="en-US" sz="1600">
                <a:solidFill>
                  <a:srgbClr val="1A3A5C"/>
                </a:solidFill>
                <a:latin typeface="Calibri"/>
                <a:ea typeface="Calibri"/>
              </a:rPr>
              <a:t>How It Works</a:t>
            </a:r>
          </a:p>
          <a:p>
            <a:endParaRPr lang="en-US" sz="1600">
              <a:solidFill>
                <a:srgbClr val="1A3A5C"/>
              </a:solidFill>
              <a:latin typeface="Calibri"/>
              <a:ea typeface="Calibri"/>
            </a:endParaRPr>
          </a:p>
          <a:p>
            <a:r>
              <a:rPr lang="en-US" sz="1600">
                <a:solidFill>
                  <a:srgbClr val="1A3A5C"/>
                </a:solidFill>
                <a:latin typeface="Calibri"/>
                <a:ea typeface="Calibri"/>
              </a:rPr>
              <a:t>• User sends POST /api/meal-plan with { user_id, plan_type: "daily" | "weekly" }</a:t>
            </a:r>
          </a:p>
          <a:p>
            <a:r>
              <a:rPr lang="en-US" sz="1600">
                <a:solidFill>
                  <a:srgbClr val="1A3A5C"/>
                </a:solidFill>
                <a:latin typeface="Calibri"/>
                <a:ea typeface="Calibri"/>
              </a:rPr>
              <a:t>• Backend loads profile, calculates TDEE and macro targets</a:t>
            </a:r>
          </a:p>
          <a:p>
            <a:r>
              <a:rPr lang="en-US" sz="1600">
                <a:solidFill>
                  <a:srgbClr val="1A3A5C"/>
                </a:solidFill>
                <a:latin typeface="Calibri"/>
                <a:ea typeface="Calibri"/>
              </a:rPr>
              <a:t>• meal_plan_generator.py selects meals from a diet-specific meal library</a:t>
            </a:r>
          </a:p>
          <a:p>
            <a:r>
              <a:rPr lang="en-US" sz="1600">
                <a:solidFill>
                  <a:srgbClr val="1A3A5C"/>
                </a:solidFill>
                <a:latin typeface="Calibri"/>
                <a:ea typeface="Calibri"/>
              </a:rPr>
              <a:t>• Allergen filter removes any meal containing the user's listed food allergies</a:t>
            </a:r>
          </a:p>
          <a:p>
            <a:r>
              <a:rPr lang="en-US" sz="1600">
                <a:solidFill>
                  <a:srgbClr val="1A3A5C"/>
                </a:solidFill>
                <a:latin typeface="Calibri"/>
                <a:ea typeface="Calibri"/>
              </a:rPr>
              <a:t>• Daily plan: 1 day with breakfast, lunch, dinner, and 1-2 snacks</a:t>
            </a:r>
          </a:p>
          <a:p>
            <a:r>
              <a:rPr lang="en-US" sz="1600">
                <a:solidFill>
                  <a:srgbClr val="1A3A5C"/>
                </a:solidFill>
                <a:latin typeface="Calibri"/>
                <a:ea typeface="Calibri"/>
              </a:rPr>
              <a:t>• Weekly plan: 7 unique days (Monday–Sunday), varied meals each day</a:t>
            </a:r>
          </a:p>
          <a:p>
            <a:r>
              <a:rPr lang="en-US" sz="1600">
                <a:solidFill>
                  <a:srgbClr val="1A3A5C"/>
                </a:solidFill>
                <a:latin typeface="Calibri"/>
                <a:ea typeface="Calibri"/>
              </a:rPr>
              <a:t>• Each meal includes: name, description, ingredients, calories, protein, carbs, fat</a:t>
            </a:r>
          </a:p>
          <a:p>
            <a:r>
              <a:rPr lang="en-US" sz="1600">
                <a:solidFill>
                  <a:srgbClr val="1A3A5C"/>
                </a:solidFill>
                <a:latin typeface="Calibri"/>
                <a:ea typeface="Calibri"/>
              </a:rPr>
              <a:t>• Response also includes total_calories, target_calories, and a medical disclaimer</a:t>
            </a:r>
          </a:p>
        </p:txBody>
      </p:sp>
      <p:sp>
        <p:nvSpPr>
          <p:cNvPr id="100078" name="SamplePlan"/>
          <p:cNvSpPr txBox="1"/>
          <p:nvPr/>
        </p:nvSpPr>
        <p:spPr>
          <a:xfrm>
            <a:off x="6840000" y="1008000"/>
            <a:ext cx="4993200" cy="3960000"/>
          </a:xfrm>
          <a:prstGeom prst="rect">
            <a:avLst/>
          </a:prstGeom>
          <a:solidFill>
            <a:srgbClr val="E8F4FD"/>
          </a:solidFill>
        </p:spPr>
        <p:txBody>
          <a:bodyPr/>
          <a:lstStyle/>
          <a:p>
            <a:r>
              <a:rPr lang="en-US" sz="1400">
                <a:solidFill>
                  <a:srgbClr val="1A3A5C"/>
                </a:solidFill>
                <a:latin typeface="Courier New"/>
                <a:ea typeface="Courier New"/>
              </a:rPr>
              <a:t>Sample Daily Plan (Vegetarian, 30F, Maintenance):</a:t>
            </a:r>
          </a:p>
          <a:p>
            <a:endParaRPr lang="en-US" sz="1400">
              <a:solidFill>
                <a:srgbClr val="1A3A5C"/>
              </a:solidFill>
              <a:latin typeface="Courier New"/>
              <a:ea typeface="Courier New"/>
            </a:endParaRPr>
          </a:p>
          <a:p>
            <a:r>
              <a:rPr lang="en-US" sz="1400">
                <a:solidFill>
                  <a:srgbClr val="1A3A5C"/>
                </a:solidFill>
                <a:latin typeface="Courier New"/>
                <a:ea typeface="Courier New"/>
              </a:rPr>
              <a:t>Breakfast:  Masala Oats with Vegetables</a:t>
            </a:r>
          </a:p>
          <a:p>
            <a:r>
              <a:rPr lang="en-US" sz="1400">
                <a:solidFill>
                  <a:srgbClr val="1A3A5C"/>
                </a:solidFill>
                <a:latin typeface="Courier New"/>
                <a:ea typeface="Courier New"/>
              </a:rPr>
              <a:t>            360 kcal  |  Protein: 12g  |  Carbs: 52g  |  Fat: 9g</a:t>
            </a:r>
          </a:p>
          <a:p>
            <a:endParaRPr lang="en-US" sz="1400">
              <a:solidFill>
                <a:srgbClr val="1A3A5C"/>
              </a:solidFill>
              <a:latin typeface="Courier New"/>
              <a:ea typeface="Courier New"/>
            </a:endParaRPr>
          </a:p>
          <a:p>
            <a:r>
              <a:rPr lang="en-US" sz="1400">
                <a:solidFill>
                  <a:srgbClr val="1A3A5C"/>
                </a:solidFill>
                <a:latin typeface="Courier New"/>
                <a:ea typeface="Courier New"/>
              </a:rPr>
              <a:t>Lunch:      Dal Tadka with Brown Rice</a:t>
            </a:r>
          </a:p>
          <a:p>
            <a:r>
              <a:rPr lang="en-US" sz="1400">
                <a:solidFill>
                  <a:srgbClr val="1A3A5C"/>
                </a:solidFill>
                <a:latin typeface="Courier New"/>
                <a:ea typeface="Courier New"/>
              </a:rPr>
              <a:t>            480 kcal  |  Protein: 18g  |  Carbs: 72g  |  Fat: 8g</a:t>
            </a:r>
          </a:p>
          <a:p>
            <a:endParaRPr lang="en-US" sz="1400">
              <a:solidFill>
                <a:srgbClr val="1A3A5C"/>
              </a:solidFill>
              <a:latin typeface="Courier New"/>
              <a:ea typeface="Courier New"/>
            </a:endParaRPr>
          </a:p>
          <a:p>
            <a:r>
              <a:rPr lang="en-US" sz="1400">
                <a:solidFill>
                  <a:srgbClr val="1A3A5C"/>
                </a:solidFill>
                <a:latin typeface="Courier New"/>
                <a:ea typeface="Courier New"/>
              </a:rPr>
              <a:t>Snack:      Mixed Nuts &amp; Fruit</a:t>
            </a:r>
          </a:p>
          <a:p>
            <a:r>
              <a:rPr lang="en-US" sz="1400">
                <a:solidFill>
                  <a:srgbClr val="1A3A5C"/>
                </a:solidFill>
                <a:latin typeface="Courier New"/>
                <a:ea typeface="Courier New"/>
              </a:rPr>
              <a:t>            200 kcal  |  Protein: 5g   |  Carbs: 22g  |  Fat: 12g</a:t>
            </a:r>
          </a:p>
          <a:p>
            <a:endParaRPr lang="en-US" sz="1400">
              <a:solidFill>
                <a:srgbClr val="1A3A5C"/>
              </a:solidFill>
              <a:latin typeface="Courier New"/>
              <a:ea typeface="Courier New"/>
            </a:endParaRPr>
          </a:p>
          <a:p>
            <a:r>
              <a:rPr lang="en-US" sz="1400">
                <a:solidFill>
                  <a:srgbClr val="1A3A5C"/>
                </a:solidFill>
                <a:latin typeface="Courier New"/>
                <a:ea typeface="Courier New"/>
              </a:rPr>
              <a:t>Dinner:     Paneer Bhurji with Roti</a:t>
            </a:r>
          </a:p>
          <a:p>
            <a:r>
              <a:rPr lang="en-US" sz="1400">
                <a:solidFill>
                  <a:srgbClr val="1A3A5C"/>
                </a:solidFill>
                <a:latin typeface="Courier New"/>
                <a:ea typeface="Courier New"/>
              </a:rPr>
              <a:t>            520 kcal  |  Protein: 24g  |  Carbs: 48g  |  Fat: 18g</a:t>
            </a:r>
          </a:p>
          <a:p>
            <a:endParaRPr lang="en-US" sz="1400">
              <a:solidFill>
                <a:srgbClr val="1A3A5C"/>
              </a:solidFill>
              <a:latin typeface="Courier New"/>
              <a:ea typeface="Courier New"/>
            </a:endParaRPr>
          </a:p>
          <a:p>
            <a:r>
              <a:rPr lang="en-US" sz="1400">
                <a:solidFill>
                  <a:srgbClr val="1A3A5C"/>
                </a:solidFill>
                <a:latin typeface="Courier New"/>
                <a:ea typeface="Courier New"/>
              </a:rPr>
              <a:t>Total: 1560 kcal  (Target from TDEE calculation)</a:t>
            </a:r>
          </a:p>
          <a:p>
            <a:endParaRPr lang="en-US" sz="1400">
              <a:solidFill>
                <a:srgbClr val="1A3A5C"/>
              </a:solidFill>
              <a:latin typeface="Courier New"/>
              <a:ea typeface="Courier New"/>
            </a:endParaRPr>
          </a:p>
          <a:p>
            <a:r>
              <a:rPr lang="en-US" sz="1400">
                <a:solidFill>
                  <a:srgbClr val="1A3A5C"/>
                </a:solidFill>
                <a:latin typeface="Courier New"/>
                <a:ea typeface="Courier New"/>
              </a:rPr>
              <a:t>[This is actual output from the running system in Demo Mode]</a:t>
            </a:r>
          </a:p>
        </p:txBody>
      </p:sp>
      <p:sp>
        <p:nvSpPr>
          <p:cNvPr id="100079" name="Note"/>
          <p:cNvSpPr txBox="1"/>
          <p:nvPr/>
        </p:nvSpPr>
        <p:spPr>
          <a:xfrm>
            <a:off x="720000" y="5112000"/>
            <a:ext cx="10753200" cy="648000"/>
          </a:xfrm>
          <a:prstGeom prst="rect">
            <a:avLst/>
          </a:prstGeom>
          <a:solidFill>
            <a:srgbClr val="FFF3E0"/>
          </a:solidFill>
        </p:spPr>
        <p:txBody>
          <a:bodyPr/>
          <a:lstStyle/>
          <a:p>
            <a:r>
              <a:rPr lang="en-US" sz="1400">
                <a:solidFill>
                  <a:srgbClr val="8B5E00"/>
                </a:solidFill>
                <a:latin typeface="Calibri"/>
                <a:ea typeface="Calibri"/>
              </a:rPr>
              <a:t>Meal library covers: Vegetarian  ·  Vegan  ·  Non-Vegetarian  ·  Jain  ·  Gluten-Free preferences. Regional variants include South Asian, Mediterranean, and continental options.</a:t>
            </a:r>
          </a:p>
        </p:txBody>
      </p:sp>
      <p:sp>
        <p:nvSpPr>
          <p:cNvPr id="100080" name="Footer"/>
          <p:cNvSpPr txBox="1"/>
          <p:nvPr/>
        </p:nvSpPr>
        <p:spPr>
          <a:xfrm>
            <a:off x="0" y="6408000"/>
            <a:ext cx="12193200" cy="432000"/>
          </a:xfrm>
          <a:prstGeom prst="rect">
            <a:avLst/>
          </a:prstGeom>
          <a:solidFill>
            <a:srgbClr val="1A3A5C"/>
          </a:solidFill>
        </p:spPr>
        <p:txBody>
          <a:bodyPr/>
          <a:lstStyle/>
          <a:p>
            <a:r>
              <a:rPr lang="en-US" sz="1200">
                <a:solidFill>
                  <a:srgbClr val="AECDE8"/>
                </a:solidFill>
                <a:latin typeface="Calibri"/>
                <a:ea typeface="Calibri"/>
              </a:rPr>
              <a:t>Slide 13 of 25</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100081" name="Header"/>
          <p:cNvSpPr txBox="1"/>
          <p:nvPr/>
        </p:nvSpPr>
        <p:spPr>
          <a:xfrm>
            <a:off x="0" y="0"/>
            <a:ext cx="12193200" cy="792000"/>
          </a:xfrm>
          <a:prstGeom prst="rect">
            <a:avLst/>
          </a:prstGeom>
          <a:solidFill>
            <a:srgbClr val="1A3A5C"/>
          </a:solidFill>
        </p:spPr>
        <p:txBody>
          <a:bodyPr/>
          <a:lstStyle/>
          <a:p>
            <a:r>
              <a:rPr lang="en-US" sz="3000" b="1">
                <a:solidFill>
                  <a:srgbClr val="FFFFFF"/>
                </a:solidFill>
                <a:latin typeface="Calibri"/>
                <a:ea typeface="Calibri"/>
              </a:rPr>
              <a:t>12.  Shopping List Generator  [DONE]</a:t>
            </a:r>
          </a:p>
        </p:txBody>
      </p:sp>
      <p:sp>
        <p:nvSpPr>
          <p:cNvPr id="100082" name="HowIt"/>
          <p:cNvSpPr txBox="1"/>
          <p:nvPr/>
        </p:nvSpPr>
        <p:spPr>
          <a:xfrm>
            <a:off x="720000" y="1008000"/>
            <a:ext cx="5760000" cy="3600000"/>
          </a:xfrm>
          <a:prstGeom prst="rect">
            <a:avLst/>
          </a:prstGeom>
        </p:spPr>
        <p:txBody>
          <a:bodyPr/>
          <a:lstStyle/>
          <a:p>
            <a:r>
              <a:rPr lang="en-US" sz="1600">
                <a:solidFill>
                  <a:srgbClr val="1A3A5C"/>
                </a:solidFill>
                <a:latin typeface="Calibri"/>
                <a:ea typeface="Calibri"/>
              </a:rPr>
              <a:t>How It Works</a:t>
            </a:r>
          </a:p>
          <a:p>
            <a:endParaRPr lang="en-US" sz="1600">
              <a:solidFill>
                <a:srgbClr val="1A3A5C"/>
              </a:solidFill>
              <a:latin typeface="Calibri"/>
              <a:ea typeface="Calibri"/>
            </a:endParaRPr>
          </a:p>
          <a:p>
            <a:r>
              <a:rPr lang="en-US" sz="1600">
                <a:solidFill>
                  <a:srgbClr val="1A3A5C"/>
                </a:solidFill>
                <a:latin typeface="Calibri"/>
                <a:ea typeface="Calibri"/>
              </a:rPr>
              <a:t>• User sends POST /api/shopping with { user_id, plan_type }</a:t>
            </a:r>
          </a:p>
          <a:p>
            <a:r>
              <a:rPr lang="en-US" sz="1600">
                <a:solidFill>
                  <a:srgbClr val="1A3A5C"/>
                </a:solidFill>
                <a:latin typeface="Calibri"/>
                <a:ea typeface="Calibri"/>
              </a:rPr>
              <a:t>• shopping_list_generator.py maps meal ingredients to a categorized shopping list</a:t>
            </a:r>
          </a:p>
          <a:p>
            <a:r>
              <a:rPr lang="en-US" sz="1600">
                <a:solidFill>
                  <a:srgbClr val="1A3A5C"/>
                </a:solidFill>
                <a:latin typeface="Calibri"/>
                <a:ea typeface="Calibri"/>
              </a:rPr>
              <a:t>• Allergen filter removes any item matching the user's food allergy list</a:t>
            </a:r>
          </a:p>
          <a:p>
            <a:r>
              <a:rPr lang="en-US" sz="1600">
                <a:solidFill>
                  <a:srgbClr val="1A3A5C"/>
                </a:solidFill>
                <a:latin typeface="Calibri"/>
                <a:ea typeface="Calibri"/>
              </a:rPr>
              <a:t>• Items grouped into categories: Grains &amp; Cereals, Proteins, Vegetables, Fruits, Dairy &amp; Alternatives, Spices &amp; Condiments, Beverages</a:t>
            </a:r>
          </a:p>
          <a:p>
            <a:r>
              <a:rPr lang="en-US" sz="1600">
                <a:solidFill>
                  <a:srgbClr val="1A3A5C"/>
                </a:solidFill>
                <a:latin typeface="Calibri"/>
                <a:ea typeface="Calibri"/>
              </a:rPr>
              <a:t>• Each item includes: name, quantity, unit, and category</a:t>
            </a:r>
          </a:p>
          <a:p>
            <a:r>
              <a:rPr lang="en-US" sz="1600">
                <a:solidFill>
                  <a:srgbClr val="1A3A5C"/>
                </a:solidFill>
                <a:latin typeface="Calibri"/>
                <a:ea typeface="Calibri"/>
              </a:rPr>
              <a:t>• Response also includes: total_items count, shopping tips, and a disclaimer</a:t>
            </a:r>
          </a:p>
        </p:txBody>
      </p:sp>
      <p:sp>
        <p:nvSpPr>
          <p:cNvPr id="100083" name="SampleList"/>
          <p:cNvSpPr txBox="1"/>
          <p:nvPr/>
        </p:nvSpPr>
        <p:spPr>
          <a:xfrm>
            <a:off x="6840000" y="1008000"/>
            <a:ext cx="4993200" cy="3960000"/>
          </a:xfrm>
          <a:prstGeom prst="rect">
            <a:avLst/>
          </a:prstGeom>
          <a:solidFill>
            <a:srgbClr val="E8F4FD"/>
          </a:solidFill>
        </p:spPr>
        <p:txBody>
          <a:bodyPr/>
          <a:lstStyle/>
          <a:p>
            <a:r>
              <a:rPr lang="en-US" sz="1400">
                <a:solidFill>
                  <a:srgbClr val="1A3A5C"/>
                </a:solidFill>
                <a:latin typeface="Courier New"/>
                <a:ea typeface="Courier New"/>
              </a:rPr>
              <a:t>Sample Shopping List (Vegetarian):</a:t>
            </a:r>
          </a:p>
          <a:p>
            <a:endParaRPr lang="en-US" sz="1400">
              <a:solidFill>
                <a:srgbClr val="1A3A5C"/>
              </a:solidFill>
              <a:latin typeface="Courier New"/>
              <a:ea typeface="Courier New"/>
            </a:endParaRPr>
          </a:p>
          <a:p>
            <a:r>
              <a:rPr lang="en-US" sz="1400">
                <a:solidFill>
                  <a:srgbClr val="1A3A5C"/>
                </a:solidFill>
                <a:latin typeface="Courier New"/>
                <a:ea typeface="Courier New"/>
              </a:rPr>
              <a:t>Grains &amp; Cereals:</a:t>
            </a:r>
          </a:p>
          <a:p>
            <a:r>
              <a:rPr lang="en-US" sz="1400">
                <a:solidFill>
                  <a:srgbClr val="1A3A5C"/>
                </a:solidFill>
                <a:latin typeface="Courier New"/>
                <a:ea typeface="Courier New"/>
              </a:rPr>
              <a:t>  Brown Rice          1 kg</a:t>
            </a:r>
          </a:p>
          <a:p>
            <a:r>
              <a:rPr lang="en-US" sz="1400">
                <a:solidFill>
                  <a:srgbClr val="1A3A5C"/>
                </a:solidFill>
                <a:latin typeface="Courier New"/>
                <a:ea typeface="Courier New"/>
              </a:rPr>
              <a:t>  Rolled Oats         500 g</a:t>
            </a:r>
          </a:p>
          <a:p>
            <a:r>
              <a:rPr lang="en-US" sz="1400">
                <a:solidFill>
                  <a:srgbClr val="1A3A5C"/>
                </a:solidFill>
                <a:latin typeface="Courier New"/>
                <a:ea typeface="Courier New"/>
              </a:rPr>
              <a:t>  Whole Wheat Roti    1 pack</a:t>
            </a:r>
          </a:p>
          <a:p>
            <a:endParaRPr lang="en-US" sz="1400">
              <a:solidFill>
                <a:srgbClr val="1A3A5C"/>
              </a:solidFill>
              <a:latin typeface="Courier New"/>
              <a:ea typeface="Courier New"/>
            </a:endParaRPr>
          </a:p>
          <a:p>
            <a:r>
              <a:rPr lang="en-US" sz="1400">
                <a:solidFill>
                  <a:srgbClr val="1A3A5C"/>
                </a:solidFill>
                <a:latin typeface="Courier New"/>
                <a:ea typeface="Courier New"/>
              </a:rPr>
              <a:t>Proteins:</a:t>
            </a:r>
          </a:p>
          <a:p>
            <a:r>
              <a:rPr lang="en-US" sz="1400">
                <a:solidFill>
                  <a:srgbClr val="1A3A5C"/>
                </a:solidFill>
                <a:latin typeface="Courier New"/>
                <a:ea typeface="Courier New"/>
              </a:rPr>
              <a:t>  Yellow Dal          500 g</a:t>
            </a:r>
          </a:p>
          <a:p>
            <a:r>
              <a:rPr lang="en-US" sz="1400">
                <a:solidFill>
                  <a:srgbClr val="1A3A5C"/>
                </a:solidFill>
                <a:latin typeface="Courier New"/>
                <a:ea typeface="Courier New"/>
              </a:rPr>
              <a:t>  Paneer              250 g</a:t>
            </a:r>
          </a:p>
          <a:p>
            <a:r>
              <a:rPr lang="en-US" sz="1400">
                <a:solidFill>
                  <a:srgbClr val="1A3A5C"/>
                </a:solidFill>
                <a:latin typeface="Courier New"/>
                <a:ea typeface="Courier New"/>
              </a:rPr>
              <a:t>  Mixed Legumes       400 g</a:t>
            </a:r>
          </a:p>
          <a:p>
            <a:endParaRPr lang="en-US" sz="1400">
              <a:solidFill>
                <a:srgbClr val="1A3A5C"/>
              </a:solidFill>
              <a:latin typeface="Courier New"/>
              <a:ea typeface="Courier New"/>
            </a:endParaRPr>
          </a:p>
          <a:p>
            <a:r>
              <a:rPr lang="en-US" sz="1400">
                <a:solidFill>
                  <a:srgbClr val="1A3A5C"/>
                </a:solidFill>
                <a:latin typeface="Courier New"/>
                <a:ea typeface="Courier New"/>
              </a:rPr>
              <a:t>Vegetables:</a:t>
            </a:r>
          </a:p>
          <a:p>
            <a:r>
              <a:rPr lang="en-US" sz="1400">
                <a:solidFill>
                  <a:srgbClr val="1A3A5C"/>
                </a:solidFill>
                <a:latin typeface="Courier New"/>
                <a:ea typeface="Courier New"/>
              </a:rPr>
              <a:t>  Spinach             250 g</a:t>
            </a:r>
          </a:p>
          <a:p>
            <a:r>
              <a:rPr lang="en-US" sz="1400">
                <a:solidFill>
                  <a:srgbClr val="1A3A5C"/>
                </a:solidFill>
                <a:latin typeface="Courier New"/>
                <a:ea typeface="Courier New"/>
              </a:rPr>
              <a:t>  Tomatoes            500 g</a:t>
            </a:r>
          </a:p>
          <a:p>
            <a:r>
              <a:rPr lang="en-US" sz="1400">
                <a:solidFill>
                  <a:srgbClr val="1A3A5C"/>
                </a:solidFill>
                <a:latin typeface="Courier New"/>
                <a:ea typeface="Courier New"/>
              </a:rPr>
              <a:t>  Onions              500 g</a:t>
            </a:r>
          </a:p>
          <a:p>
            <a:endParaRPr lang="en-US" sz="1400">
              <a:solidFill>
                <a:srgbClr val="1A3A5C"/>
              </a:solidFill>
              <a:latin typeface="Courier New"/>
              <a:ea typeface="Courier New"/>
            </a:endParaRPr>
          </a:p>
          <a:p>
            <a:r>
              <a:rPr lang="en-US" sz="1400">
                <a:solidFill>
                  <a:srgbClr val="1A3A5C"/>
                </a:solidFill>
                <a:latin typeface="Courier New"/>
                <a:ea typeface="Courier New"/>
              </a:rPr>
              <a:t>Fruits:</a:t>
            </a:r>
          </a:p>
          <a:p>
            <a:r>
              <a:rPr lang="en-US" sz="1400">
                <a:solidFill>
                  <a:srgbClr val="1A3A5C"/>
                </a:solidFill>
                <a:latin typeface="Courier New"/>
                <a:ea typeface="Courier New"/>
              </a:rPr>
              <a:t>  Banana              6 pcs</a:t>
            </a:r>
          </a:p>
          <a:p>
            <a:r>
              <a:rPr lang="en-US" sz="1400">
                <a:solidFill>
                  <a:srgbClr val="1A3A5C"/>
                </a:solidFill>
                <a:latin typeface="Courier New"/>
                <a:ea typeface="Courier New"/>
              </a:rPr>
              <a:t>  Apple               4 pcs</a:t>
            </a:r>
          </a:p>
          <a:p>
            <a:endParaRPr lang="en-US" sz="1400">
              <a:solidFill>
                <a:srgbClr val="1A3A5C"/>
              </a:solidFill>
              <a:latin typeface="Courier New"/>
              <a:ea typeface="Courier New"/>
            </a:endParaRPr>
          </a:p>
          <a:p>
            <a:r>
              <a:rPr lang="en-US" sz="1400">
                <a:solidFill>
                  <a:srgbClr val="1A3A5C"/>
                </a:solidFill>
                <a:latin typeface="Courier New"/>
                <a:ea typeface="Courier New"/>
              </a:rPr>
              <a:t>Total: 18 items</a:t>
            </a:r>
          </a:p>
          <a:p>
            <a:endParaRPr lang="en-US" sz="1400">
              <a:solidFill>
                <a:srgbClr val="1A3A5C"/>
              </a:solidFill>
              <a:latin typeface="Courier New"/>
              <a:ea typeface="Courier New"/>
            </a:endParaRPr>
          </a:p>
          <a:p>
            <a:r>
              <a:rPr lang="en-US" sz="1400">
                <a:solidFill>
                  <a:srgbClr val="1A3A5C"/>
                </a:solidFill>
                <a:latin typeface="Courier New"/>
                <a:ea typeface="Courier New"/>
              </a:rPr>
              <a:t>[Actual system output — Demo Mode]</a:t>
            </a:r>
          </a:p>
        </p:txBody>
      </p:sp>
      <p:sp>
        <p:nvSpPr>
          <p:cNvPr id="100084" name="Tips"/>
          <p:cNvSpPr txBox="1"/>
          <p:nvPr/>
        </p:nvSpPr>
        <p:spPr>
          <a:xfrm>
            <a:off x="720000" y="4752000"/>
            <a:ext cx="10753200" cy="540000"/>
          </a:xfrm>
          <a:prstGeom prst="rect">
            <a:avLst/>
          </a:prstGeom>
          <a:solidFill>
            <a:srgbClr val="FFF3E0"/>
          </a:solidFill>
        </p:spPr>
        <p:txBody>
          <a:bodyPr/>
          <a:lstStyle/>
          <a:p>
            <a:r>
              <a:rPr lang="en-US" sz="1400">
                <a:solidFill>
                  <a:srgbClr val="8B5E00"/>
                </a:solidFill>
                <a:latin typeface="Calibri"/>
                <a:ea typeface="Calibri"/>
              </a:rPr>
              <a:t>Shopping Tips included in response:  Buy whole grains over refined.  Prefer seasonal local vegetables.  Check labels for hidden allergens.</a:t>
            </a:r>
          </a:p>
        </p:txBody>
      </p:sp>
      <p:sp>
        <p:nvSpPr>
          <p:cNvPr id="100085" name="Footer"/>
          <p:cNvSpPr txBox="1"/>
          <p:nvPr/>
        </p:nvSpPr>
        <p:spPr>
          <a:xfrm>
            <a:off x="0" y="6408000"/>
            <a:ext cx="12193200" cy="432000"/>
          </a:xfrm>
          <a:prstGeom prst="rect">
            <a:avLst/>
          </a:prstGeom>
          <a:solidFill>
            <a:srgbClr val="1A3A5C"/>
          </a:solidFill>
        </p:spPr>
        <p:txBody>
          <a:bodyPr/>
          <a:lstStyle/>
          <a:p>
            <a:r>
              <a:rPr lang="en-US" sz="1200">
                <a:solidFill>
                  <a:srgbClr val="AECDE8"/>
                </a:solidFill>
                <a:latin typeface="Calibri"/>
                <a:ea typeface="Calibri"/>
              </a:rPr>
              <a:t>Slide 14 of 25</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100086" name="Header"/>
          <p:cNvSpPr txBox="1"/>
          <p:nvPr/>
        </p:nvSpPr>
        <p:spPr>
          <a:xfrm>
            <a:off x="0" y="0"/>
            <a:ext cx="12193200" cy="792000"/>
          </a:xfrm>
          <a:prstGeom prst="rect">
            <a:avLst/>
          </a:prstGeom>
          <a:solidFill>
            <a:srgbClr val="1A3A5C"/>
          </a:solidFill>
        </p:spPr>
        <p:txBody>
          <a:bodyPr/>
          <a:lstStyle/>
          <a:p>
            <a:r>
              <a:rPr lang="en-US" sz="3000" b="1">
                <a:solidFill>
                  <a:srgbClr val="FFFFFF"/>
                </a:solidFill>
                <a:latin typeface="Calibri"/>
                <a:ea typeface="Calibri"/>
              </a:rPr>
              <a:t>13.  Nutrition Dashboard  [DONE]</a:t>
            </a:r>
          </a:p>
        </p:txBody>
      </p:sp>
      <p:sp>
        <p:nvSpPr>
          <p:cNvPr id="100087" name="HowIt"/>
          <p:cNvSpPr txBox="1"/>
          <p:nvPr/>
        </p:nvSpPr>
        <p:spPr>
          <a:xfrm>
            <a:off x="720000" y="1008000"/>
            <a:ext cx="6120000" cy="3960000"/>
          </a:xfrm>
          <a:prstGeom prst="rect">
            <a:avLst/>
          </a:prstGeom>
        </p:spPr>
        <p:txBody>
          <a:bodyPr/>
          <a:lstStyle/>
          <a:p>
            <a:r>
              <a:rPr lang="en-US" sz="1600">
                <a:solidFill>
                  <a:srgbClr val="1A3A5C"/>
                </a:solidFill>
                <a:latin typeface="Calibri"/>
                <a:ea typeface="Calibri"/>
              </a:rPr>
              <a:t>How It Works</a:t>
            </a:r>
          </a:p>
          <a:p>
            <a:endParaRPr lang="en-US" sz="1600">
              <a:solidFill>
                <a:srgbClr val="1A3A5C"/>
              </a:solidFill>
              <a:latin typeface="Calibri"/>
              <a:ea typeface="Calibri"/>
            </a:endParaRPr>
          </a:p>
          <a:p>
            <a:r>
              <a:rPr lang="en-US" sz="1600">
                <a:solidFill>
                  <a:srgbClr val="1A3A5C"/>
                </a:solidFill>
                <a:latin typeface="Calibri"/>
                <a:ea typeface="Calibri"/>
              </a:rPr>
              <a:t>• GET /api/dashboard/{user_id} loads the user's saved profile</a:t>
            </a:r>
          </a:p>
          <a:p>
            <a:r>
              <a:rPr lang="en-US" sz="1600">
                <a:solidFill>
                  <a:srgbClr val="1A3A5C"/>
                </a:solidFill>
                <a:latin typeface="Calibri"/>
                <a:ea typeface="Calibri"/>
              </a:rPr>
              <a:t>• calculate_tdee() computes Total Daily Energy Expenditure using the Mifflin-St Jeor equation, adjusted by activity multiplier</a:t>
            </a:r>
          </a:p>
          <a:p>
            <a:r>
              <a:rPr lang="en-US" sz="1600">
                <a:solidFill>
                  <a:srgbClr val="1A3A5C"/>
                </a:solidFill>
                <a:latin typeface="Calibri"/>
                <a:ea typeface="Calibri"/>
              </a:rPr>
              <a:t>• get_macro_targets() applies goal-based calorie adjustment:</a:t>
            </a:r>
          </a:p>
          <a:p>
            <a:r>
              <a:rPr lang="en-US" sz="1600">
                <a:solidFill>
                  <a:srgbClr val="1A3A5C"/>
                </a:solidFill>
                <a:latin typeface="Calibri"/>
                <a:ea typeface="Calibri"/>
              </a:rPr>
              <a:t>    Weight loss:  -500 kcal deficit</a:t>
            </a:r>
          </a:p>
          <a:p>
            <a:r>
              <a:rPr lang="en-US" sz="1600">
                <a:solidFill>
                  <a:srgbClr val="1A3A5C"/>
                </a:solidFill>
                <a:latin typeface="Calibri"/>
                <a:ea typeface="Calibri"/>
              </a:rPr>
              <a:t>    Weight gain:  +300 kcal surplus</a:t>
            </a:r>
          </a:p>
          <a:p>
            <a:r>
              <a:rPr lang="en-US" sz="1600">
                <a:solidFill>
                  <a:srgbClr val="1A3A5C"/>
                </a:solidFill>
                <a:latin typeface="Calibri"/>
                <a:ea typeface="Calibri"/>
              </a:rPr>
              <a:t>    Maintenance:  no adjustment</a:t>
            </a:r>
          </a:p>
          <a:p>
            <a:r>
              <a:rPr lang="en-US" sz="1600">
                <a:solidFill>
                  <a:srgbClr val="1A3A5C"/>
                </a:solidFill>
                <a:latin typeface="Calibri"/>
                <a:ea typeface="Calibri"/>
              </a:rPr>
              <a:t>• BMI calculated as weight_kg / (height_m)^2</a:t>
            </a:r>
          </a:p>
          <a:p>
            <a:r>
              <a:rPr lang="en-US" sz="1600">
                <a:solidFill>
                  <a:srgbClr val="1A3A5C"/>
                </a:solidFill>
                <a:latin typeface="Calibri"/>
                <a:ea typeface="Calibri"/>
              </a:rPr>
              <a:t>• Protein target: 1.6–2.0 g per kg body weight</a:t>
            </a:r>
          </a:p>
          <a:p>
            <a:r>
              <a:rPr lang="en-US" sz="1600">
                <a:solidFill>
                  <a:srgbClr val="1A3A5C"/>
                </a:solidFill>
                <a:latin typeface="Calibri"/>
                <a:ea typeface="Calibri"/>
              </a:rPr>
              <a:t>• Carbs: 45–55% of calories   |   Fat: 25–35% of calories</a:t>
            </a:r>
          </a:p>
        </p:txBody>
      </p:sp>
      <p:sp>
        <p:nvSpPr>
          <p:cNvPr id="100088" name="SampleDash"/>
          <p:cNvSpPr txBox="1"/>
          <p:nvPr/>
        </p:nvSpPr>
        <p:spPr>
          <a:xfrm>
            <a:off x="7200000" y="1008000"/>
            <a:ext cx="4633200" cy="3960000"/>
          </a:xfrm>
          <a:prstGeom prst="rect">
            <a:avLst/>
          </a:prstGeom>
          <a:solidFill>
            <a:srgbClr val="E8F4FD"/>
          </a:solidFill>
        </p:spPr>
        <p:txBody>
          <a:bodyPr/>
          <a:lstStyle/>
          <a:p>
            <a:r>
              <a:rPr lang="en-US" sz="1500">
                <a:solidFill>
                  <a:srgbClr val="1A3A5C"/>
                </a:solidFill>
                <a:latin typeface="Courier New"/>
                <a:ea typeface="Courier New"/>
              </a:rPr>
              <a:t>Sample Dashboard Output</a:t>
            </a:r>
          </a:p>
          <a:p>
            <a:r>
              <a:rPr lang="en-US" sz="1500">
                <a:solidFill>
                  <a:srgbClr val="1A3A5C"/>
                </a:solidFill>
                <a:latin typeface="Courier New"/>
                <a:ea typeface="Courier New"/>
              </a:rPr>
              <a:t>(30F, 65 kg, 165 cm,</a:t>
            </a:r>
          </a:p>
          <a:p>
            <a:r>
              <a:rPr lang="en-US" sz="1500">
                <a:solidFill>
                  <a:srgbClr val="1A3A5C"/>
                </a:solidFill>
                <a:latin typeface="Courier New"/>
                <a:ea typeface="Courier New"/>
              </a:rPr>
              <a:t>moderately_active, weight_loss):</a:t>
            </a:r>
          </a:p>
          <a:p>
            <a:endParaRPr lang="en-US" sz="1500">
              <a:solidFill>
                <a:srgbClr val="1A3A5C"/>
              </a:solidFill>
              <a:latin typeface="Courier New"/>
              <a:ea typeface="Courier New"/>
            </a:endParaRPr>
          </a:p>
          <a:p>
            <a:r>
              <a:rPr lang="en-US" sz="1500">
                <a:solidFill>
                  <a:srgbClr val="1A3A5C"/>
                </a:solidFill>
                <a:latin typeface="Courier New"/>
                <a:ea typeface="Courier New"/>
              </a:rPr>
              <a:t>TDEE:        1,950 kcal</a:t>
            </a:r>
          </a:p>
          <a:p>
            <a:r>
              <a:rPr lang="en-US" sz="1500">
                <a:solidFill>
                  <a:srgbClr val="1A3A5C"/>
                </a:solidFill>
                <a:latin typeface="Courier New"/>
                <a:ea typeface="Courier New"/>
              </a:rPr>
              <a:t>Target Cal:  1,450 kcal  (-500)</a:t>
            </a:r>
          </a:p>
          <a:p>
            <a:r>
              <a:rPr lang="en-US" sz="1500">
                <a:solidFill>
                  <a:srgbClr val="1A3A5C"/>
                </a:solidFill>
                <a:latin typeface="Courier New"/>
                <a:ea typeface="Courier New"/>
              </a:rPr>
              <a:t>BMI:         23.9  (Normal)</a:t>
            </a:r>
          </a:p>
          <a:p>
            <a:endParaRPr lang="en-US" sz="1500">
              <a:solidFill>
                <a:srgbClr val="1A3A5C"/>
              </a:solidFill>
              <a:latin typeface="Courier New"/>
              <a:ea typeface="Courier New"/>
            </a:endParaRPr>
          </a:p>
          <a:p>
            <a:r>
              <a:rPr lang="en-US" sz="1500">
                <a:solidFill>
                  <a:srgbClr val="1A3A5C"/>
                </a:solidFill>
                <a:latin typeface="Courier New"/>
                <a:ea typeface="Courier New"/>
              </a:rPr>
              <a:t>Macros per day:</a:t>
            </a:r>
          </a:p>
          <a:p>
            <a:r>
              <a:rPr lang="en-US" sz="1500">
                <a:solidFill>
                  <a:srgbClr val="1A3A5C"/>
                </a:solidFill>
                <a:latin typeface="Courier New"/>
                <a:ea typeface="Courier New"/>
              </a:rPr>
              <a:t>  Protein:  104 g  (29%)</a:t>
            </a:r>
          </a:p>
          <a:p>
            <a:r>
              <a:rPr lang="en-US" sz="1500">
                <a:solidFill>
                  <a:srgbClr val="1A3A5C"/>
                </a:solidFill>
                <a:latin typeface="Courier New"/>
                <a:ea typeface="Courier New"/>
              </a:rPr>
              <a:t>  Carbs:    181 g  (50%)</a:t>
            </a:r>
          </a:p>
          <a:p>
            <a:r>
              <a:rPr lang="en-US" sz="1500">
                <a:solidFill>
                  <a:srgbClr val="1A3A5C"/>
                </a:solidFill>
                <a:latin typeface="Courier New"/>
                <a:ea typeface="Courier New"/>
              </a:rPr>
              <a:t>  Fat:       45 g  (28%)</a:t>
            </a:r>
          </a:p>
          <a:p>
            <a:endParaRPr lang="en-US" sz="1500">
              <a:solidFill>
                <a:srgbClr val="1A3A5C"/>
              </a:solidFill>
              <a:latin typeface="Courier New"/>
              <a:ea typeface="Courier New"/>
            </a:endParaRPr>
          </a:p>
          <a:p>
            <a:r>
              <a:rPr lang="en-US" sz="1500">
                <a:solidFill>
                  <a:srgbClr val="1A3A5C"/>
                </a:solidFill>
                <a:latin typeface="Courier New"/>
                <a:ea typeface="Courier New"/>
              </a:rPr>
              <a:t>Diet:        Vegetarian</a:t>
            </a:r>
          </a:p>
          <a:p>
            <a:r>
              <a:rPr lang="en-US" sz="1500">
                <a:solidFill>
                  <a:srgbClr val="1A3A5C"/>
                </a:solidFill>
                <a:latin typeface="Courier New"/>
                <a:ea typeface="Courier New"/>
              </a:rPr>
              <a:t>Activity:    Moderately Active</a:t>
            </a:r>
          </a:p>
          <a:p>
            <a:r>
              <a:rPr lang="en-US" sz="1500">
                <a:solidFill>
                  <a:srgbClr val="1A3A5C"/>
                </a:solidFill>
                <a:latin typeface="Courier New"/>
                <a:ea typeface="Courier New"/>
              </a:rPr>
              <a:t>Goal:        Weight Loss</a:t>
            </a:r>
          </a:p>
          <a:p>
            <a:endParaRPr lang="en-US" sz="1500">
              <a:solidFill>
                <a:srgbClr val="1A3A5C"/>
              </a:solidFill>
              <a:latin typeface="Courier New"/>
              <a:ea typeface="Courier New"/>
            </a:endParaRPr>
          </a:p>
          <a:p>
            <a:r>
              <a:rPr lang="en-US" sz="1500">
                <a:solidFill>
                  <a:srgbClr val="1A3A5C"/>
                </a:solidFill>
                <a:latin typeface="Courier New"/>
                <a:ea typeface="Courier New"/>
              </a:rPr>
              <a:t>[Actual API response — Demo Mode]</a:t>
            </a:r>
          </a:p>
        </p:txBody>
      </p:sp>
      <p:sp>
        <p:nvSpPr>
          <p:cNvPr id="100089" name="Note"/>
          <p:cNvSpPr txBox="1"/>
          <p:nvPr/>
        </p:nvSpPr>
        <p:spPr>
          <a:xfrm>
            <a:off x="720000" y="5112000"/>
            <a:ext cx="10753200" cy="648000"/>
          </a:xfrm>
          <a:prstGeom prst="rect">
            <a:avLst/>
          </a:prstGeom>
          <a:solidFill>
            <a:srgbClr val="FFF3E0"/>
          </a:solidFill>
        </p:spPr>
        <p:txBody>
          <a:bodyPr/>
          <a:lstStyle/>
          <a:p>
            <a:r>
              <a:rPr lang="en-US" sz="1400">
                <a:solidFill>
                  <a:srgbClr val="8B5E00"/>
                </a:solidFill>
                <a:latin typeface="Calibri"/>
                <a:ea typeface="Calibri"/>
              </a:rPr>
              <a:t>Note: TDEE and macro calculations use established nutrition science formulas. Results are estimates — not clinical prescriptions. All outputs include the medical disclaimer.</a:t>
            </a:r>
          </a:p>
        </p:txBody>
      </p:sp>
      <p:sp>
        <p:nvSpPr>
          <p:cNvPr id="100090" name="Footer"/>
          <p:cNvSpPr txBox="1"/>
          <p:nvPr/>
        </p:nvSpPr>
        <p:spPr>
          <a:xfrm>
            <a:off x="0" y="6408000"/>
            <a:ext cx="12193200" cy="432000"/>
          </a:xfrm>
          <a:prstGeom prst="rect">
            <a:avLst/>
          </a:prstGeom>
          <a:solidFill>
            <a:srgbClr val="1A3A5C"/>
          </a:solidFill>
        </p:spPr>
        <p:txBody>
          <a:bodyPr/>
          <a:lstStyle/>
          <a:p>
            <a:r>
              <a:rPr lang="en-US" sz="1200">
                <a:solidFill>
                  <a:srgbClr val="AECDE8"/>
                </a:solidFill>
                <a:latin typeface="Calibri"/>
                <a:ea typeface="Calibri"/>
              </a:rPr>
              <a:t>Slide 15 of 25</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100091" name="Header"/>
          <p:cNvSpPr txBox="1"/>
          <p:nvPr/>
        </p:nvSpPr>
        <p:spPr>
          <a:xfrm>
            <a:off x="0" y="0"/>
            <a:ext cx="12193200" cy="792000"/>
          </a:xfrm>
          <a:prstGeom prst="rect">
            <a:avLst/>
          </a:prstGeom>
          <a:solidFill>
            <a:srgbClr val="1A3A5C"/>
          </a:solidFill>
        </p:spPr>
        <p:txBody>
          <a:bodyPr/>
          <a:lstStyle/>
          <a:p>
            <a:r>
              <a:rPr lang="en-US" sz="3000" b="1">
                <a:solidFill>
                  <a:srgbClr val="FFFFFF"/>
                </a:solidFill>
                <a:latin typeface="Calibri"/>
                <a:ea typeface="Calibri"/>
              </a:rPr>
              <a:t>14.  Food Substitution Engine  [DONE]</a:t>
            </a:r>
          </a:p>
        </p:txBody>
      </p:sp>
      <p:sp>
        <p:nvSpPr>
          <p:cNvPr id="100092" name="HowIt"/>
          <p:cNvSpPr txBox="1"/>
          <p:nvPr/>
        </p:nvSpPr>
        <p:spPr>
          <a:xfrm>
            <a:off x="720000" y="1008000"/>
            <a:ext cx="5760000" cy="3600000"/>
          </a:xfrm>
          <a:prstGeom prst="rect">
            <a:avLst/>
          </a:prstGeom>
        </p:spPr>
        <p:txBody>
          <a:bodyPr/>
          <a:lstStyle/>
          <a:p>
            <a:r>
              <a:rPr lang="en-US" sz="1600">
                <a:solidFill>
                  <a:srgbClr val="1A3A5C"/>
                </a:solidFill>
                <a:latin typeface="Calibri"/>
                <a:ea typeface="Calibri"/>
              </a:rPr>
              <a:t>How It Works</a:t>
            </a:r>
          </a:p>
          <a:p>
            <a:endParaRPr lang="en-US" sz="1600">
              <a:solidFill>
                <a:srgbClr val="1A3A5C"/>
              </a:solidFill>
              <a:latin typeface="Calibri"/>
              <a:ea typeface="Calibri"/>
            </a:endParaRPr>
          </a:p>
          <a:p>
            <a:r>
              <a:rPr lang="en-US" sz="1600">
                <a:solidFill>
                  <a:srgbClr val="1A3A5C"/>
                </a:solidFill>
                <a:latin typeface="Calibri"/>
                <a:ea typeface="Calibri"/>
              </a:rPr>
              <a:t>• POST /api/substitute with { user_id, food_item, reason }</a:t>
            </a:r>
          </a:p>
          <a:p>
            <a:r>
              <a:rPr lang="en-US" sz="1600">
                <a:solidFill>
                  <a:srgbClr val="1A3A5C"/>
                </a:solidFill>
                <a:latin typeface="Calibri"/>
                <a:ea typeface="Calibri"/>
              </a:rPr>
              <a:t>• Reason examples: "dairy allergy", "vegan preference", "low calorie", "gluten-free"</a:t>
            </a:r>
          </a:p>
          <a:p>
            <a:r>
              <a:rPr lang="en-US" sz="1600">
                <a:solidFill>
                  <a:srgbClr val="1A3A5C"/>
                </a:solidFill>
                <a:latin typeface="Calibri"/>
                <a:ea typeface="Calibri"/>
              </a:rPr>
              <a:t>• RAG retrieves top-2 relevant chunks from food_substitution_guide.txt</a:t>
            </a:r>
          </a:p>
          <a:p>
            <a:r>
              <a:rPr lang="en-US" sz="1600">
                <a:solidFill>
                  <a:srgbClr val="1A3A5C"/>
                </a:solidFill>
                <a:latin typeface="Calibri"/>
                <a:ea typeface="Calibri"/>
              </a:rPr>
              <a:t>• Prompt constructed: user profile + retrieved substitution knowledge + food item + reason</a:t>
            </a:r>
          </a:p>
          <a:p>
            <a:r>
              <a:rPr lang="en-US" sz="1600">
                <a:solidFill>
                  <a:srgbClr val="1A3A5C"/>
                </a:solidFill>
                <a:latin typeface="Calibri"/>
                <a:ea typeface="Calibri"/>
              </a:rPr>
              <a:t>• IBM Granite (or Demo Mode) generates 3–5 substitutions</a:t>
            </a:r>
          </a:p>
          <a:p>
            <a:r>
              <a:rPr lang="en-US" sz="1600">
                <a:solidFill>
                  <a:srgbClr val="1A3A5C"/>
                </a:solidFill>
                <a:latin typeface="Calibri"/>
                <a:ea typeface="Calibri"/>
              </a:rPr>
              <a:t>• Each substitution includes: name, nutritional comparison, and cooking notes</a:t>
            </a:r>
          </a:p>
          <a:p>
            <a:r>
              <a:rPr lang="en-US" sz="1600">
                <a:solidFill>
                  <a:srgbClr val="1A3A5C"/>
                </a:solidFill>
                <a:latin typeface="Calibri"/>
                <a:ea typeface="Calibri"/>
              </a:rPr>
              <a:t>• User's allergies injected into profile context so the LLM avoids them in suggestions</a:t>
            </a:r>
          </a:p>
        </p:txBody>
      </p:sp>
      <p:sp>
        <p:nvSpPr>
          <p:cNvPr id="100093" name="SampleSub"/>
          <p:cNvSpPr txBox="1"/>
          <p:nvPr/>
        </p:nvSpPr>
        <p:spPr>
          <a:xfrm>
            <a:off x="6840000" y="1008000"/>
            <a:ext cx="4993200" cy="3960000"/>
          </a:xfrm>
          <a:prstGeom prst="rect">
            <a:avLst/>
          </a:prstGeom>
          <a:solidFill>
            <a:srgbClr val="E8F4FD"/>
          </a:solidFill>
        </p:spPr>
        <p:txBody>
          <a:bodyPr/>
          <a:lstStyle/>
          <a:p>
            <a:r>
              <a:rPr lang="en-US" sz="1400">
                <a:solidFill>
                  <a:srgbClr val="1A3A5C"/>
                </a:solidFill>
                <a:latin typeface="Courier New"/>
                <a:ea typeface="Courier New"/>
              </a:rPr>
              <a:t>Example Query:</a:t>
            </a:r>
          </a:p>
          <a:p>
            <a:r>
              <a:rPr lang="en-US" sz="1400">
                <a:solidFill>
                  <a:srgbClr val="1A3A5C"/>
                </a:solidFill>
                <a:latin typeface="Courier New"/>
                <a:ea typeface="Courier New"/>
              </a:rPr>
              <a:t>  food_item: "Paneer"</a:t>
            </a:r>
          </a:p>
          <a:p>
            <a:r>
              <a:rPr lang="en-US" sz="1400">
                <a:solidFill>
                  <a:srgbClr val="1A3A5C"/>
                </a:solidFill>
                <a:latin typeface="Courier New"/>
                <a:ea typeface="Courier New"/>
              </a:rPr>
              <a:t>  reason: "dairy allergy"</a:t>
            </a:r>
          </a:p>
          <a:p>
            <a:endParaRPr lang="en-US" sz="1400">
              <a:solidFill>
                <a:srgbClr val="1A3A5C"/>
              </a:solidFill>
              <a:latin typeface="Courier New"/>
              <a:ea typeface="Courier New"/>
            </a:endParaRPr>
          </a:p>
          <a:p>
            <a:r>
              <a:rPr lang="en-US" sz="1400">
                <a:solidFill>
                  <a:srgbClr val="1A3A5C"/>
                </a:solidFill>
                <a:latin typeface="Courier New"/>
                <a:ea typeface="Courier New"/>
              </a:rPr>
              <a:t>Substitutions returned:</a:t>
            </a:r>
          </a:p>
          <a:p>
            <a:endParaRPr lang="en-US" sz="1400">
              <a:solidFill>
                <a:srgbClr val="1A3A5C"/>
              </a:solidFill>
              <a:latin typeface="Courier New"/>
              <a:ea typeface="Courier New"/>
            </a:endParaRPr>
          </a:p>
          <a:p>
            <a:r>
              <a:rPr lang="en-US" sz="1400">
                <a:solidFill>
                  <a:srgbClr val="1A3A5C"/>
                </a:solidFill>
                <a:latin typeface="Courier New"/>
                <a:ea typeface="Courier New"/>
              </a:rPr>
              <a:t>1. Firm Tofu (100g = 76 kcal, 8g protein)</a:t>
            </a:r>
          </a:p>
          <a:p>
            <a:r>
              <a:rPr lang="en-US" sz="1400">
                <a:solidFill>
                  <a:srgbClr val="1A3A5C"/>
                </a:solidFill>
                <a:latin typeface="Courier New"/>
                <a:ea typeface="Courier New"/>
              </a:rPr>
              <a:t>   Use: Same as paneer in curries and stir-fries.</a:t>
            </a:r>
          </a:p>
          <a:p>
            <a:r>
              <a:rPr lang="en-US" sz="1400">
                <a:solidFill>
                  <a:srgbClr val="1A3A5C"/>
                </a:solidFill>
                <a:latin typeface="Courier New"/>
                <a:ea typeface="Courier New"/>
              </a:rPr>
              <a:t>   Note: Press to remove water before cooking.</a:t>
            </a:r>
          </a:p>
          <a:p>
            <a:endParaRPr lang="en-US" sz="1400">
              <a:solidFill>
                <a:srgbClr val="1A3A5C"/>
              </a:solidFill>
              <a:latin typeface="Courier New"/>
              <a:ea typeface="Courier New"/>
            </a:endParaRPr>
          </a:p>
          <a:p>
            <a:r>
              <a:rPr lang="en-US" sz="1400">
                <a:solidFill>
                  <a:srgbClr val="1A3A5C"/>
                </a:solidFill>
                <a:latin typeface="Courier New"/>
                <a:ea typeface="Courier New"/>
              </a:rPr>
              <a:t>2. Tempeh (100g = 193 kcal, 20g protein)</a:t>
            </a:r>
          </a:p>
          <a:p>
            <a:r>
              <a:rPr lang="en-US" sz="1400">
                <a:solidFill>
                  <a:srgbClr val="1A3A5C"/>
                </a:solidFill>
                <a:latin typeface="Courier New"/>
                <a:ea typeface="Courier New"/>
              </a:rPr>
              <a:t>   Use: High-protein alternative. Marinate well.</a:t>
            </a:r>
          </a:p>
          <a:p>
            <a:endParaRPr lang="en-US" sz="1400">
              <a:solidFill>
                <a:srgbClr val="1A3A5C"/>
              </a:solidFill>
              <a:latin typeface="Courier New"/>
              <a:ea typeface="Courier New"/>
            </a:endParaRPr>
          </a:p>
          <a:p>
            <a:r>
              <a:rPr lang="en-US" sz="1400">
                <a:solidFill>
                  <a:srgbClr val="1A3A5C"/>
                </a:solidFill>
                <a:latin typeface="Courier New"/>
                <a:ea typeface="Courier New"/>
              </a:rPr>
              <a:t>3. Chickpeas (100g = 164 kcal, 9g protein)</a:t>
            </a:r>
          </a:p>
          <a:p>
            <a:r>
              <a:rPr lang="en-US" sz="1400">
                <a:solidFill>
                  <a:srgbClr val="1A3A5C"/>
                </a:solidFill>
                <a:latin typeface="Courier New"/>
                <a:ea typeface="Courier New"/>
              </a:rPr>
              <a:t>   Use: Add to curries; adds fiber and protein.</a:t>
            </a:r>
          </a:p>
          <a:p>
            <a:endParaRPr lang="en-US" sz="1400">
              <a:solidFill>
                <a:srgbClr val="1A3A5C"/>
              </a:solidFill>
              <a:latin typeface="Courier New"/>
              <a:ea typeface="Courier New"/>
            </a:endParaRPr>
          </a:p>
          <a:p>
            <a:r>
              <a:rPr lang="en-US" sz="1400">
                <a:solidFill>
                  <a:srgbClr val="1A3A5C"/>
                </a:solidFill>
                <a:latin typeface="Courier New"/>
                <a:ea typeface="Courier New"/>
              </a:rPr>
              <a:t>[Demo Mode output — grounded in knowledge base]</a:t>
            </a:r>
          </a:p>
        </p:txBody>
      </p:sp>
      <p:sp>
        <p:nvSpPr>
          <p:cNvPr id="100094" name="Note"/>
          <p:cNvSpPr txBox="1"/>
          <p:nvPr/>
        </p:nvSpPr>
        <p:spPr>
          <a:xfrm>
            <a:off x="720000" y="4752000"/>
            <a:ext cx="10753200" cy="648000"/>
          </a:xfrm>
          <a:prstGeom prst="rect">
            <a:avLst/>
          </a:prstGeom>
          <a:solidFill>
            <a:srgbClr val="FFF3E0"/>
          </a:solidFill>
        </p:spPr>
        <p:txBody>
          <a:bodyPr/>
          <a:lstStyle/>
          <a:p>
            <a:r>
              <a:rPr lang="en-US" sz="1400">
                <a:solidFill>
                  <a:srgbClr val="8B5E00"/>
                </a:solidFill>
                <a:latin typeface="Calibri"/>
                <a:ea typeface="Calibri"/>
              </a:rPr>
              <a:t>The food_substitution_guide.txt in the knowledge base covers: dairy-free swaps, gluten-free alternatives, low-GI replacements, high-protein plant substitutes, and oil/fat substitutes.</a:t>
            </a:r>
          </a:p>
        </p:txBody>
      </p:sp>
      <p:sp>
        <p:nvSpPr>
          <p:cNvPr id="100095" name="Footer"/>
          <p:cNvSpPr txBox="1"/>
          <p:nvPr/>
        </p:nvSpPr>
        <p:spPr>
          <a:xfrm>
            <a:off x="0" y="6408000"/>
            <a:ext cx="12193200" cy="432000"/>
          </a:xfrm>
          <a:prstGeom prst="rect">
            <a:avLst/>
          </a:prstGeom>
          <a:solidFill>
            <a:srgbClr val="1A3A5C"/>
          </a:solidFill>
        </p:spPr>
        <p:txBody>
          <a:bodyPr/>
          <a:lstStyle/>
          <a:p>
            <a:r>
              <a:rPr lang="en-US" sz="1200">
                <a:solidFill>
                  <a:srgbClr val="AECDE8"/>
                </a:solidFill>
                <a:latin typeface="Calibri"/>
                <a:ea typeface="Calibri"/>
              </a:rPr>
              <a:t>Slide 16 of 25</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100096" name="Header"/>
          <p:cNvSpPr txBox="1"/>
          <p:nvPr/>
        </p:nvSpPr>
        <p:spPr>
          <a:xfrm>
            <a:off x="0" y="0"/>
            <a:ext cx="12193200" cy="792000"/>
          </a:xfrm>
          <a:prstGeom prst="rect">
            <a:avLst/>
          </a:prstGeom>
          <a:solidFill>
            <a:srgbClr val="1A3A5C"/>
          </a:solidFill>
        </p:spPr>
        <p:txBody>
          <a:bodyPr/>
          <a:lstStyle/>
          <a:p>
            <a:r>
              <a:rPr lang="en-US" sz="3000" b="1">
                <a:solidFill>
                  <a:srgbClr val="FFFFFF"/>
                </a:solidFill>
                <a:latin typeface="Calibri"/>
                <a:ea typeface="Calibri"/>
              </a:rPr>
              <a:t>15.  Frontend Application — UI Overview</a:t>
            </a:r>
          </a:p>
        </p:txBody>
      </p:sp>
      <p:sp>
        <p:nvSpPr>
          <p:cNvPr id="100097" name="TechNote"/>
          <p:cNvSpPr txBox="1"/>
          <p:nvPr/>
        </p:nvSpPr>
        <p:spPr>
          <a:xfrm>
            <a:off x="720000" y="900000"/>
            <a:ext cx="10753200" cy="468000"/>
          </a:xfrm>
          <a:prstGeom prst="rect">
            <a:avLst/>
          </a:prstGeom>
          <a:solidFill>
            <a:srgbClr val="2E6DA4"/>
          </a:solidFill>
        </p:spPr>
        <p:txBody>
          <a:bodyPr/>
          <a:lstStyle/>
          <a:p>
            <a:r>
              <a:rPr lang="en-US" sz="1500">
                <a:solidFill>
                  <a:srgbClr val="FFFFFF"/>
                </a:solidFill>
                <a:latin typeface="Calibri"/>
                <a:ea typeface="Calibri"/>
              </a:rPr>
              <a:t>Technology: Pure HTML5 + CSS3 + Vanilla JavaScript (no framework, no Node.js, no build step)</a:t>
            </a:r>
          </a:p>
          <a:p>
            <a:r>
              <a:rPr lang="en-US" sz="1500">
                <a:solidFill>
                  <a:srgbClr val="FFFFFF"/>
                </a:solidFill>
                <a:latin typeface="Calibri"/>
                <a:ea typeface="Calibri"/>
              </a:rPr>
              <a:t>Served by: FastAPI static files mount — open http://localhost:8000 after running run_project.bat</a:t>
            </a:r>
          </a:p>
        </p:txBody>
      </p:sp>
      <p:sp>
        <p:nvSpPr>
          <p:cNvPr id="100098" name="Tab1"/>
          <p:cNvSpPr txBox="1"/>
          <p:nvPr/>
        </p:nvSpPr>
        <p:spPr>
          <a:xfrm>
            <a:off x="720000" y="1512000"/>
            <a:ext cx="2700000" cy="3960000"/>
          </a:xfrm>
          <a:prstGeom prst="rect">
            <a:avLst/>
          </a:prstGeom>
          <a:solidFill>
            <a:srgbClr val="E8F4FD"/>
          </a:solidFill>
        </p:spPr>
        <p:txBody>
          <a:bodyPr/>
          <a:lstStyle/>
          <a:p>
            <a:r>
              <a:rPr lang="en-US" sz="1400">
                <a:solidFill>
                  <a:srgbClr val="1A3A5C"/>
                </a:solidFill>
                <a:latin typeface="Calibri"/>
                <a:ea typeface="Calibri"/>
              </a:rPr>
              <a:t>Tab 1: User Profile</a:t>
            </a:r>
          </a:p>
          <a:p>
            <a:endParaRPr lang="en-US" sz="1400">
              <a:solidFill>
                <a:srgbClr val="1A3A5C"/>
              </a:solidFill>
              <a:latin typeface="Calibri"/>
              <a:ea typeface="Calibri"/>
            </a:endParaRPr>
          </a:p>
          <a:p>
            <a:r>
              <a:rPr lang="en-US" sz="1400">
                <a:solidFill>
                  <a:srgbClr val="1A3A5C"/>
                </a:solidFill>
                <a:latin typeface="Calibri"/>
                <a:ea typeface="Calibri"/>
              </a:rPr>
              <a:t>• Name, age, gender</a:t>
            </a:r>
          </a:p>
          <a:p>
            <a:r>
              <a:rPr lang="en-US" sz="1400">
                <a:solidFill>
                  <a:srgbClr val="1A3A5C"/>
                </a:solidFill>
                <a:latin typeface="Calibri"/>
                <a:ea typeface="Calibri"/>
              </a:rPr>
              <a:t>• Weight (kg) &amp; height (cm)</a:t>
            </a:r>
          </a:p>
          <a:p>
            <a:r>
              <a:rPr lang="en-US" sz="1400">
                <a:solidFill>
                  <a:srgbClr val="1A3A5C"/>
                </a:solidFill>
                <a:latin typeface="Calibri"/>
                <a:ea typeface="Calibri"/>
              </a:rPr>
              <a:t>• Diet preference dropdown</a:t>
            </a:r>
          </a:p>
          <a:p>
            <a:r>
              <a:rPr lang="en-US" sz="1400">
                <a:solidFill>
                  <a:srgbClr val="1A3A5C"/>
                </a:solidFill>
                <a:latin typeface="Calibri"/>
                <a:ea typeface="Calibri"/>
              </a:rPr>
              <a:t>  (vegetarian / vegan /</a:t>
            </a:r>
          </a:p>
          <a:p>
            <a:r>
              <a:rPr lang="en-US" sz="1400">
                <a:solidFill>
                  <a:srgbClr val="1A3A5C"/>
                </a:solidFill>
                <a:latin typeface="Calibri"/>
                <a:ea typeface="Calibri"/>
              </a:rPr>
              <a:t>   non-vegetarian / jain /</a:t>
            </a:r>
          </a:p>
          <a:p>
            <a:r>
              <a:rPr lang="en-US" sz="1400">
                <a:solidFill>
                  <a:srgbClr val="1A3A5C"/>
                </a:solidFill>
                <a:latin typeface="Calibri"/>
                <a:ea typeface="Calibri"/>
              </a:rPr>
              <a:t>   gluten-free)</a:t>
            </a:r>
          </a:p>
          <a:p>
            <a:r>
              <a:rPr lang="en-US" sz="1400">
                <a:solidFill>
                  <a:srgbClr val="1A3A5C"/>
                </a:solidFill>
                <a:latin typeface="Calibri"/>
                <a:ea typeface="Calibri"/>
              </a:rPr>
              <a:t>• Food allergies (comma list)</a:t>
            </a:r>
          </a:p>
          <a:p>
            <a:r>
              <a:rPr lang="en-US" sz="1400">
                <a:solidFill>
                  <a:srgbClr val="1A3A5C"/>
                </a:solidFill>
                <a:latin typeface="Calibri"/>
                <a:ea typeface="Calibri"/>
              </a:rPr>
              <a:t>• Medical history (comma list)</a:t>
            </a:r>
          </a:p>
          <a:p>
            <a:r>
              <a:rPr lang="en-US" sz="1400">
                <a:solidFill>
                  <a:srgbClr val="1A3A5C"/>
                </a:solidFill>
                <a:latin typeface="Calibri"/>
                <a:ea typeface="Calibri"/>
              </a:rPr>
              <a:t>• Activity level dropdown</a:t>
            </a:r>
          </a:p>
          <a:p>
            <a:r>
              <a:rPr lang="en-US" sz="1400">
                <a:solidFill>
                  <a:srgbClr val="1A3A5C"/>
                </a:solidFill>
                <a:latin typeface="Calibri"/>
                <a:ea typeface="Calibri"/>
              </a:rPr>
              <a:t>• Nutrition goals checkboxes</a:t>
            </a:r>
          </a:p>
          <a:p>
            <a:r>
              <a:rPr lang="en-US" sz="1400">
                <a:solidFill>
                  <a:srgbClr val="1A3A5C"/>
                </a:solidFill>
                <a:latin typeface="Calibri"/>
                <a:ea typeface="Calibri"/>
              </a:rPr>
              <a:t>• City &amp; country</a:t>
            </a:r>
          </a:p>
          <a:p>
            <a:r>
              <a:rPr lang="en-US" sz="1400">
                <a:solidFill>
                  <a:srgbClr val="1A3A5C"/>
                </a:solidFill>
                <a:latin typeface="Calibri"/>
                <a:ea typeface="Calibri"/>
              </a:rPr>
              <a:t>• Save Profile button</a:t>
            </a:r>
          </a:p>
        </p:txBody>
      </p:sp>
      <p:sp>
        <p:nvSpPr>
          <p:cNvPr id="100099" name="Tab2"/>
          <p:cNvSpPr txBox="1"/>
          <p:nvPr/>
        </p:nvSpPr>
        <p:spPr>
          <a:xfrm>
            <a:off x="3600000" y="1512000"/>
            <a:ext cx="2700000" cy="3960000"/>
          </a:xfrm>
          <a:prstGeom prst="rect">
            <a:avLst/>
          </a:prstGeom>
          <a:solidFill>
            <a:srgbClr val="E8F4FD"/>
          </a:solidFill>
        </p:spPr>
        <p:txBody>
          <a:bodyPr/>
          <a:lstStyle/>
          <a:p>
            <a:r>
              <a:rPr lang="en-US" sz="1400">
                <a:solidFill>
                  <a:srgbClr val="1A3A5C"/>
                </a:solidFill>
                <a:latin typeface="Calibri"/>
                <a:ea typeface="Calibri"/>
              </a:rPr>
              <a:t>Tab 2: Chat</a:t>
            </a:r>
          </a:p>
          <a:p>
            <a:endParaRPr lang="en-US" sz="1400">
              <a:solidFill>
                <a:srgbClr val="1A3A5C"/>
              </a:solidFill>
              <a:latin typeface="Calibri"/>
              <a:ea typeface="Calibri"/>
            </a:endParaRPr>
          </a:p>
          <a:p>
            <a:r>
              <a:rPr lang="en-US" sz="1400">
                <a:solidFill>
                  <a:srgbClr val="1A3A5C"/>
                </a:solidFill>
                <a:latin typeface="Calibri"/>
                <a:ea typeface="Calibri"/>
              </a:rPr>
              <a:t>• Message input box</a:t>
            </a:r>
          </a:p>
          <a:p>
            <a:r>
              <a:rPr lang="en-US" sz="1400">
                <a:solidFill>
                  <a:srgbClr val="1A3A5C"/>
                </a:solidFill>
                <a:latin typeface="Calibri"/>
                <a:ea typeface="Calibri"/>
              </a:rPr>
              <a:t>• Send button</a:t>
            </a:r>
          </a:p>
          <a:p>
            <a:r>
              <a:rPr lang="en-US" sz="1400">
                <a:solidFill>
                  <a:srgbClr val="1A3A5C"/>
                </a:solidFill>
                <a:latin typeface="Calibri"/>
                <a:ea typeface="Calibri"/>
              </a:rPr>
              <a:t>• Chat bubble display</a:t>
            </a:r>
          </a:p>
          <a:p>
            <a:r>
              <a:rPr lang="en-US" sz="1400">
                <a:solidFill>
                  <a:srgbClr val="1A3A5C"/>
                </a:solidFill>
                <a:latin typeface="Calibri"/>
                <a:ea typeface="Calibri"/>
              </a:rPr>
              <a:t>• Source citations</a:t>
            </a:r>
          </a:p>
          <a:p>
            <a:r>
              <a:rPr lang="en-US" sz="1400">
                <a:solidFill>
                  <a:srgbClr val="1A3A5C"/>
                </a:solidFill>
                <a:latin typeface="Calibri"/>
                <a:ea typeface="Calibri"/>
              </a:rPr>
              <a:t>  with relevance score</a:t>
            </a:r>
          </a:p>
          <a:p>
            <a:r>
              <a:rPr lang="en-US" sz="1400">
                <a:solidFill>
                  <a:srgbClr val="1A3A5C"/>
                </a:solidFill>
                <a:latin typeface="Calibri"/>
                <a:ea typeface="Calibri"/>
              </a:rPr>
              <a:t>• Medical disclaimer</a:t>
            </a:r>
          </a:p>
          <a:p>
            <a:r>
              <a:rPr lang="en-US" sz="1400">
                <a:solidFill>
                  <a:srgbClr val="1A3A5C"/>
                </a:solidFill>
                <a:latin typeface="Calibri"/>
                <a:ea typeface="Calibri"/>
              </a:rPr>
              <a:t>  always visible</a:t>
            </a:r>
          </a:p>
          <a:p>
            <a:r>
              <a:rPr lang="en-US" sz="1400">
                <a:solidFill>
                  <a:srgbClr val="1A3A5C"/>
                </a:solidFill>
                <a:latin typeface="Calibri"/>
                <a:ea typeface="Calibri"/>
              </a:rPr>
              <a:t>• Conversation history</a:t>
            </a:r>
          </a:p>
          <a:p>
            <a:r>
              <a:rPr lang="en-US" sz="1400">
                <a:solidFill>
                  <a:srgbClr val="1A3A5C"/>
                </a:solidFill>
                <a:latin typeface="Calibri"/>
                <a:ea typeface="Calibri"/>
              </a:rPr>
              <a:t>  preserved in session</a:t>
            </a:r>
          </a:p>
        </p:txBody>
      </p:sp>
      <p:sp>
        <p:nvSpPr>
          <p:cNvPr id="100100" name="Tab3"/>
          <p:cNvSpPr txBox="1"/>
          <p:nvPr/>
        </p:nvSpPr>
        <p:spPr>
          <a:xfrm>
            <a:off x="6480000" y="1512000"/>
            <a:ext cx="2700000" cy="3960000"/>
          </a:xfrm>
          <a:prstGeom prst="rect">
            <a:avLst/>
          </a:prstGeom>
          <a:solidFill>
            <a:srgbClr val="E8F4FD"/>
          </a:solidFill>
        </p:spPr>
        <p:txBody>
          <a:bodyPr/>
          <a:lstStyle/>
          <a:p>
            <a:r>
              <a:rPr lang="en-US" sz="1400">
                <a:solidFill>
                  <a:srgbClr val="1A3A5C"/>
                </a:solidFill>
                <a:latin typeface="Calibri"/>
                <a:ea typeface="Calibri"/>
              </a:rPr>
              <a:t>Tab 3: Meal Plan</a:t>
            </a:r>
          </a:p>
          <a:p>
            <a:endParaRPr lang="en-US" sz="1400">
              <a:solidFill>
                <a:srgbClr val="1A3A5C"/>
              </a:solidFill>
              <a:latin typeface="Calibri"/>
              <a:ea typeface="Calibri"/>
            </a:endParaRPr>
          </a:p>
          <a:p>
            <a:r>
              <a:rPr lang="en-US" sz="1400">
                <a:solidFill>
                  <a:srgbClr val="1A3A5C"/>
                </a:solidFill>
                <a:latin typeface="Calibri"/>
                <a:ea typeface="Calibri"/>
              </a:rPr>
              <a:t>• Daily / Weekly toggle</a:t>
            </a:r>
          </a:p>
          <a:p>
            <a:r>
              <a:rPr lang="en-US" sz="1400">
                <a:solidFill>
                  <a:srgbClr val="1A3A5C"/>
                </a:solidFill>
                <a:latin typeface="Calibri"/>
                <a:ea typeface="Calibri"/>
              </a:rPr>
              <a:t>• Generate button</a:t>
            </a:r>
          </a:p>
          <a:p>
            <a:r>
              <a:rPr lang="en-US" sz="1400">
                <a:solidFill>
                  <a:srgbClr val="1A3A5C"/>
                </a:solidFill>
                <a:latin typeface="Calibri"/>
                <a:ea typeface="Calibri"/>
              </a:rPr>
              <a:t>• Day-by-day accordion</a:t>
            </a:r>
          </a:p>
          <a:p>
            <a:r>
              <a:rPr lang="en-US" sz="1400">
                <a:solidFill>
                  <a:srgbClr val="1A3A5C"/>
                </a:solidFill>
                <a:latin typeface="Calibri"/>
                <a:ea typeface="Calibri"/>
              </a:rPr>
              <a:t>  view</a:t>
            </a:r>
          </a:p>
          <a:p>
            <a:r>
              <a:rPr lang="en-US" sz="1400">
                <a:solidFill>
                  <a:srgbClr val="1A3A5C"/>
                </a:solidFill>
                <a:latin typeface="Calibri"/>
                <a:ea typeface="Calibri"/>
              </a:rPr>
              <a:t>• Each meal shows:</a:t>
            </a:r>
          </a:p>
          <a:p>
            <a:r>
              <a:rPr lang="en-US" sz="1400">
                <a:solidFill>
                  <a:srgbClr val="1A3A5C"/>
                </a:solidFill>
                <a:latin typeface="Calibri"/>
                <a:ea typeface="Calibri"/>
              </a:rPr>
              <a:t>  name, calories,</a:t>
            </a:r>
          </a:p>
          <a:p>
            <a:r>
              <a:rPr lang="en-US" sz="1400">
                <a:solidFill>
                  <a:srgbClr val="1A3A5C"/>
                </a:solidFill>
                <a:latin typeface="Calibri"/>
                <a:ea typeface="Calibri"/>
              </a:rPr>
              <a:t>  macros (P/C/F)</a:t>
            </a:r>
          </a:p>
          <a:p>
            <a:r>
              <a:rPr lang="en-US" sz="1400">
                <a:solidFill>
                  <a:srgbClr val="1A3A5C"/>
                </a:solidFill>
                <a:latin typeface="Calibri"/>
                <a:ea typeface="Calibri"/>
              </a:rPr>
              <a:t>• Total calories vs</a:t>
            </a:r>
          </a:p>
          <a:p>
            <a:r>
              <a:rPr lang="en-US" sz="1400">
                <a:solidFill>
                  <a:srgbClr val="1A3A5C"/>
                </a:solidFill>
                <a:latin typeface="Calibri"/>
                <a:ea typeface="Calibri"/>
              </a:rPr>
              <a:t>  target calories</a:t>
            </a:r>
          </a:p>
          <a:p>
            <a:r>
              <a:rPr lang="en-US" sz="1400">
                <a:solidFill>
                  <a:srgbClr val="1A3A5C"/>
                </a:solidFill>
                <a:latin typeface="Calibri"/>
                <a:ea typeface="Calibri"/>
              </a:rPr>
              <a:t>• Download / print</a:t>
            </a:r>
          </a:p>
          <a:p>
            <a:r>
              <a:rPr lang="en-US" sz="1400">
                <a:solidFill>
                  <a:srgbClr val="1A3A5C"/>
                </a:solidFill>
                <a:latin typeface="Calibri"/>
                <a:ea typeface="Calibri"/>
              </a:rPr>
              <a:t>  (browser native)</a:t>
            </a:r>
          </a:p>
        </p:txBody>
      </p:sp>
      <p:sp>
        <p:nvSpPr>
          <p:cNvPr id="100101" name="Tab4"/>
          <p:cNvSpPr txBox="1"/>
          <p:nvPr/>
        </p:nvSpPr>
        <p:spPr>
          <a:xfrm>
            <a:off x="9360000" y="1512000"/>
            <a:ext cx="2473200" cy="3960000"/>
          </a:xfrm>
          <a:prstGeom prst="rect">
            <a:avLst/>
          </a:prstGeom>
          <a:solidFill>
            <a:srgbClr val="E8F4FD"/>
          </a:solidFill>
        </p:spPr>
        <p:txBody>
          <a:bodyPr/>
          <a:lstStyle/>
          <a:p>
            <a:r>
              <a:rPr lang="en-US" sz="1400">
                <a:solidFill>
                  <a:srgbClr val="1A3A5C"/>
                </a:solidFill>
                <a:latin typeface="Calibri"/>
                <a:ea typeface="Calibri"/>
              </a:rPr>
              <a:t>Tabs 4 &amp; 5:</a:t>
            </a:r>
          </a:p>
          <a:p>
            <a:r>
              <a:rPr lang="en-US" sz="1400">
                <a:solidFill>
                  <a:srgbClr val="1A3A5C"/>
                </a:solidFill>
                <a:latin typeface="Calibri"/>
                <a:ea typeface="Calibri"/>
              </a:rPr>
              <a:t>Shopping &amp; Dashboard</a:t>
            </a:r>
          </a:p>
          <a:p>
            <a:endParaRPr lang="en-US" sz="1400">
              <a:solidFill>
                <a:srgbClr val="1A3A5C"/>
              </a:solidFill>
              <a:latin typeface="Calibri"/>
              <a:ea typeface="Calibri"/>
            </a:endParaRPr>
          </a:p>
          <a:p>
            <a:r>
              <a:rPr lang="en-US" sz="1400">
                <a:solidFill>
                  <a:srgbClr val="1A3A5C"/>
                </a:solidFill>
                <a:latin typeface="Calibri"/>
                <a:ea typeface="Calibri"/>
              </a:rPr>
              <a:t>Shopping List:</a:t>
            </a:r>
          </a:p>
          <a:p>
            <a:r>
              <a:rPr lang="en-US" sz="1400">
                <a:solidFill>
                  <a:srgbClr val="1A3A5C"/>
                </a:solidFill>
                <a:latin typeface="Calibri"/>
                <a:ea typeface="Calibri"/>
              </a:rPr>
              <a:t>• Categorized items</a:t>
            </a:r>
          </a:p>
          <a:p>
            <a:r>
              <a:rPr lang="en-US" sz="1400">
                <a:solidFill>
                  <a:srgbClr val="1A3A5C"/>
                </a:solidFill>
                <a:latin typeface="Calibri"/>
                <a:ea typeface="Calibri"/>
              </a:rPr>
              <a:t>• Quantity &amp; unit</a:t>
            </a:r>
          </a:p>
          <a:p>
            <a:r>
              <a:rPr lang="en-US" sz="1400">
                <a:solidFill>
                  <a:srgbClr val="1A3A5C"/>
                </a:solidFill>
                <a:latin typeface="Calibri"/>
                <a:ea typeface="Calibri"/>
              </a:rPr>
              <a:t>• Checkbox per item</a:t>
            </a:r>
          </a:p>
          <a:p>
            <a:r>
              <a:rPr lang="en-US" sz="1400">
                <a:solidFill>
                  <a:srgbClr val="1A3A5C"/>
                </a:solidFill>
                <a:latin typeface="Calibri"/>
                <a:ea typeface="Calibri"/>
              </a:rPr>
              <a:t>• Tips section</a:t>
            </a:r>
          </a:p>
          <a:p>
            <a:endParaRPr lang="en-US" sz="1400">
              <a:solidFill>
                <a:srgbClr val="1A3A5C"/>
              </a:solidFill>
              <a:latin typeface="Calibri"/>
              <a:ea typeface="Calibri"/>
            </a:endParaRPr>
          </a:p>
          <a:p>
            <a:r>
              <a:rPr lang="en-US" sz="1400">
                <a:solidFill>
                  <a:srgbClr val="1A3A5C"/>
                </a:solidFill>
                <a:latin typeface="Calibri"/>
                <a:ea typeface="Calibri"/>
              </a:rPr>
              <a:t>Dashboard:</a:t>
            </a:r>
          </a:p>
          <a:p>
            <a:r>
              <a:rPr lang="en-US" sz="1400">
                <a:solidFill>
                  <a:srgbClr val="1A3A5C"/>
                </a:solidFill>
                <a:latin typeface="Calibri"/>
                <a:ea typeface="Calibri"/>
              </a:rPr>
              <a:t>• TDEE &amp; target</a:t>
            </a:r>
          </a:p>
          <a:p>
            <a:r>
              <a:rPr lang="en-US" sz="1400">
                <a:solidFill>
                  <a:srgbClr val="1A3A5C"/>
                </a:solidFill>
                <a:latin typeface="Calibri"/>
                <a:ea typeface="Calibri"/>
              </a:rPr>
              <a:t>• BMI display</a:t>
            </a:r>
          </a:p>
          <a:p>
            <a:r>
              <a:rPr lang="en-US" sz="1400">
                <a:solidFill>
                  <a:srgbClr val="1A3A5C"/>
                </a:solidFill>
                <a:latin typeface="Calibri"/>
                <a:ea typeface="Calibri"/>
              </a:rPr>
              <a:t>• Macro ring chart</a:t>
            </a:r>
          </a:p>
          <a:p>
            <a:r>
              <a:rPr lang="en-US" sz="1400">
                <a:solidFill>
                  <a:srgbClr val="1A3A5C"/>
                </a:solidFill>
                <a:latin typeface="Calibri"/>
                <a:ea typeface="Calibri"/>
              </a:rPr>
              <a:t>• Diet &amp; goal summary</a:t>
            </a:r>
          </a:p>
        </p:txBody>
      </p:sp>
      <p:sp>
        <p:nvSpPr>
          <p:cNvPr id="100102" name="Footer"/>
          <p:cNvSpPr txBox="1"/>
          <p:nvPr/>
        </p:nvSpPr>
        <p:spPr>
          <a:xfrm>
            <a:off x="0" y="6408000"/>
            <a:ext cx="12193200" cy="432000"/>
          </a:xfrm>
          <a:prstGeom prst="rect">
            <a:avLst/>
          </a:prstGeom>
          <a:solidFill>
            <a:srgbClr val="1A3A5C"/>
          </a:solidFill>
        </p:spPr>
        <p:txBody>
          <a:bodyPr/>
          <a:lstStyle/>
          <a:p>
            <a:r>
              <a:rPr lang="en-US" sz="1200">
                <a:solidFill>
                  <a:srgbClr val="AECDE8"/>
                </a:solidFill>
                <a:latin typeface="Calibri"/>
                <a:ea typeface="Calibri"/>
              </a:rPr>
              <a:t>Slide 17 of 25</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100103" name="Header"/>
          <p:cNvSpPr txBox="1"/>
          <p:nvPr/>
        </p:nvSpPr>
        <p:spPr>
          <a:xfrm>
            <a:off x="0" y="0"/>
            <a:ext cx="12193200" cy="792000"/>
          </a:xfrm>
          <a:prstGeom prst="rect">
            <a:avLst/>
          </a:prstGeom>
          <a:solidFill>
            <a:srgbClr val="1A3A5C"/>
          </a:solidFill>
        </p:spPr>
        <p:txBody>
          <a:bodyPr/>
          <a:lstStyle/>
          <a:p>
            <a:r>
              <a:rPr lang="en-US" sz="3000" b="1">
                <a:solidFill>
                  <a:srgbClr val="FFFFFF"/>
                </a:solidFill>
                <a:latin typeface="Calibri"/>
                <a:ea typeface="Calibri"/>
              </a:rPr>
              <a:t>16.  API Reference — All Endpoints</a:t>
            </a:r>
          </a:p>
        </p:txBody>
      </p:sp>
      <p:sp>
        <p:nvSpPr>
          <p:cNvPr id="100104" name="APITable"/>
          <p:cNvSpPr txBox="1"/>
          <p:nvPr/>
        </p:nvSpPr>
        <p:spPr>
          <a:xfrm>
            <a:off x="720000" y="1080000"/>
            <a:ext cx="10753200" cy="3960000"/>
          </a:xfrm>
          <a:prstGeom prst="rect">
            <a:avLst/>
          </a:prstGeom>
          <a:solidFill>
            <a:srgbClr val="0D2137"/>
          </a:solidFill>
        </p:spPr>
        <p:txBody>
          <a:bodyPr/>
          <a:lstStyle/>
          <a:p>
            <a:r>
              <a:rPr lang="en-US" sz="1500">
                <a:solidFill>
                  <a:srgbClr val="E8F4FD"/>
                </a:solidFill>
                <a:latin typeface="Courier New"/>
                <a:ea typeface="Courier New"/>
              </a:rPr>
              <a:t>Method   Endpoint                     Description</a:t>
            </a:r>
          </a:p>
          <a:p>
            <a:r>
              <a:rPr lang="en-US" sz="1500">
                <a:solidFill>
                  <a:srgbClr val="E8F4FD"/>
                </a:solidFill>
                <a:latin typeface="Courier New"/>
                <a:ea typeface="Courier New"/>
              </a:rPr>
              <a:t>─────────────────────────────────────────────────────────────────────────</a:t>
            </a:r>
          </a:p>
          <a:p>
            <a:r>
              <a:rPr lang="en-US" sz="1500">
                <a:solidFill>
                  <a:srgbClr val="E8F4FD"/>
                </a:solidFill>
                <a:latin typeface="Courier New"/>
                <a:ea typeface="Courier New"/>
              </a:rPr>
              <a:t>GET      /api/health                  Health check: mode, chunk count, model</a:t>
            </a:r>
          </a:p>
          <a:p>
            <a:r>
              <a:rPr lang="en-US" sz="1500">
                <a:solidFill>
                  <a:srgbClr val="E8F4FD"/>
                </a:solidFill>
                <a:latin typeface="Courier New"/>
                <a:ea typeface="Courier New"/>
              </a:rPr>
              <a:t>POST     /api/profile                 Save/update user profile (returns user_id)</a:t>
            </a:r>
          </a:p>
          <a:p>
            <a:r>
              <a:rPr lang="en-US" sz="1500">
                <a:solidFill>
                  <a:srgbClr val="E8F4FD"/>
                </a:solidFill>
                <a:latin typeface="Courier New"/>
                <a:ea typeface="Courier New"/>
              </a:rPr>
              <a:t>GET      /api/profile/{user_id}       Retrieve saved user profile JSON</a:t>
            </a:r>
          </a:p>
          <a:p>
            <a:r>
              <a:rPr lang="en-US" sz="1500">
                <a:solidFill>
                  <a:srgbClr val="E8F4FD"/>
                </a:solidFill>
                <a:latin typeface="Courier New"/>
                <a:ea typeface="Courier New"/>
              </a:rPr>
              <a:t>POST     /api/chat                    RAG Q&amp;A: query → retrieved chunks → LLM answer</a:t>
            </a:r>
          </a:p>
          <a:p>
            <a:r>
              <a:rPr lang="en-US" sz="1500">
                <a:solidFill>
                  <a:srgbClr val="E8F4FD"/>
                </a:solidFill>
                <a:latin typeface="Courier New"/>
                <a:ea typeface="Courier New"/>
              </a:rPr>
              <a:t>POST     /api/meal-plan               Generate daily or weekly meal plan</a:t>
            </a:r>
          </a:p>
          <a:p>
            <a:r>
              <a:rPr lang="en-US" sz="1500">
                <a:solidFill>
                  <a:srgbClr val="E8F4FD"/>
                </a:solidFill>
                <a:latin typeface="Courier New"/>
                <a:ea typeface="Courier New"/>
              </a:rPr>
              <a:t>POST     /api/shopping                Generate categorized shopping list</a:t>
            </a:r>
          </a:p>
          <a:p>
            <a:r>
              <a:rPr lang="en-US" sz="1500">
                <a:solidFill>
                  <a:srgbClr val="E8F4FD"/>
                </a:solidFill>
                <a:latin typeface="Courier New"/>
                <a:ea typeface="Courier New"/>
              </a:rPr>
              <a:t>GET      /api/dashboard/{user_id}     TDEE, macros, BMI, goals summary</a:t>
            </a:r>
          </a:p>
          <a:p>
            <a:r>
              <a:rPr lang="en-US" sz="1500">
                <a:solidFill>
                  <a:srgbClr val="E8F4FD"/>
                </a:solidFill>
                <a:latin typeface="Courier New"/>
                <a:ea typeface="Courier New"/>
              </a:rPr>
              <a:t>POST     /api/substitute              Food substitution suggestions</a:t>
            </a:r>
          </a:p>
          <a:p>
            <a:r>
              <a:rPr lang="en-US" sz="1500">
                <a:solidFill>
                  <a:srgbClr val="E8F4FD"/>
                </a:solidFill>
                <a:latin typeface="Courier New"/>
                <a:ea typeface="Courier New"/>
              </a:rPr>
              <a:t>POST     /api/ingest                  Ingest text document into knowledge base</a:t>
            </a:r>
          </a:p>
          <a:p>
            <a:r>
              <a:rPr lang="en-US" sz="1500">
                <a:solidFill>
                  <a:srgbClr val="E8F4FD"/>
                </a:solidFill>
                <a:latin typeface="Courier New"/>
                <a:ea typeface="Courier New"/>
              </a:rPr>
              <a:t>POST     /api/ingest/file             Upload .txt/.md/.csv file to knowledge base</a:t>
            </a:r>
          </a:p>
          <a:p>
            <a:r>
              <a:rPr lang="en-US" sz="1500">
                <a:solidFill>
                  <a:srgbClr val="E8F4FD"/>
                </a:solidFill>
                <a:latin typeface="Courier New"/>
                <a:ea typeface="Courier New"/>
              </a:rPr>
              <a:t>GET      /api/docs                    Interactive Swagger UI (OpenAPI)</a:t>
            </a:r>
          </a:p>
          <a:p>
            <a:r>
              <a:rPr lang="en-US" sz="1500">
                <a:solidFill>
                  <a:srgbClr val="E8F4FD"/>
                </a:solidFill>
                <a:latin typeface="Courier New"/>
                <a:ea typeface="Courier New"/>
              </a:rPr>
              <a:t>GET      /api/redoc                   ReDoc API documentation</a:t>
            </a:r>
          </a:p>
        </p:txBody>
      </p:sp>
      <p:sp>
        <p:nvSpPr>
          <p:cNvPr id="100105" name="Note"/>
          <p:cNvSpPr txBox="1"/>
          <p:nvPr/>
        </p:nvSpPr>
        <p:spPr>
          <a:xfrm>
            <a:off x="720000" y="5148000"/>
            <a:ext cx="10753200" cy="540000"/>
          </a:xfrm>
          <a:prstGeom prst="rect">
            <a:avLst/>
          </a:prstGeom>
          <a:solidFill>
            <a:srgbClr val="FFF3E0"/>
          </a:solidFill>
        </p:spPr>
        <p:txBody>
          <a:bodyPr/>
          <a:lstStyle/>
          <a:p>
            <a:r>
              <a:rPr lang="en-US" sz="1400">
                <a:solidFill>
                  <a:srgbClr val="8B5E00"/>
                </a:solidFill>
                <a:latin typeface="Calibri"/>
                <a:ea typeface="Calibri"/>
              </a:rPr>
              <a:t>All endpoints return JSON. All responses that include nutrition advice also include the medical disclaimer field. Interactive docs: http://localhost:8000/api/docs</a:t>
            </a:r>
          </a:p>
        </p:txBody>
      </p:sp>
      <p:sp>
        <p:nvSpPr>
          <p:cNvPr id="100106" name="Footer"/>
          <p:cNvSpPr txBox="1"/>
          <p:nvPr/>
        </p:nvSpPr>
        <p:spPr>
          <a:xfrm>
            <a:off x="0" y="6408000"/>
            <a:ext cx="12193200" cy="432000"/>
          </a:xfrm>
          <a:prstGeom prst="rect">
            <a:avLst/>
          </a:prstGeom>
          <a:solidFill>
            <a:srgbClr val="1A3A5C"/>
          </a:solidFill>
        </p:spPr>
        <p:txBody>
          <a:bodyPr/>
          <a:lstStyle/>
          <a:p>
            <a:r>
              <a:rPr lang="en-US" sz="1200">
                <a:solidFill>
                  <a:srgbClr val="AECDE8"/>
                </a:solidFill>
                <a:latin typeface="Calibri"/>
                <a:ea typeface="Calibri"/>
              </a:rPr>
              <a:t>Slide 18 of 25</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100107" name="Header"/>
          <p:cNvSpPr txBox="1"/>
          <p:nvPr/>
        </p:nvSpPr>
        <p:spPr>
          <a:xfrm>
            <a:off x="0" y="0"/>
            <a:ext cx="12193200" cy="792000"/>
          </a:xfrm>
          <a:prstGeom prst="rect">
            <a:avLst/>
          </a:prstGeom>
          <a:solidFill>
            <a:srgbClr val="1A3A5C"/>
          </a:solidFill>
        </p:spPr>
        <p:txBody>
          <a:bodyPr/>
          <a:lstStyle/>
          <a:p>
            <a:r>
              <a:rPr lang="en-US" sz="3000" b="1">
                <a:solidFill>
                  <a:srgbClr val="FFFFFF"/>
                </a:solidFill>
                <a:latin typeface="Calibri"/>
                <a:ea typeface="Calibri"/>
              </a:rPr>
              <a:t>17.  AI Ethics &amp; Medical Safety  [DONE]</a:t>
            </a:r>
          </a:p>
        </p:txBody>
      </p:sp>
      <p:sp>
        <p:nvSpPr>
          <p:cNvPr id="100108" name="Guardrails"/>
          <p:cNvSpPr txBox="1"/>
          <p:nvPr/>
        </p:nvSpPr>
        <p:spPr>
          <a:xfrm>
            <a:off x="720000" y="1008000"/>
            <a:ext cx="6480000" cy="2880000"/>
          </a:xfrm>
          <a:prstGeom prst="rect">
            <a:avLst/>
          </a:prstGeom>
          <a:solidFill>
            <a:srgbClr val="FFEBEE"/>
          </a:solidFill>
        </p:spPr>
        <p:txBody>
          <a:bodyPr/>
          <a:lstStyle/>
          <a:p>
            <a:r>
              <a:rPr lang="en-US" sz="1500">
                <a:solidFill>
                  <a:srgbClr val="B71C1C"/>
                </a:solidFill>
                <a:latin typeface="Calibri"/>
                <a:ea typeface="Calibri"/>
              </a:rPr>
              <a:t>Safety Guardrails (config.py — SAFETY_KEYWORDS list)</a:t>
            </a:r>
          </a:p>
          <a:p>
            <a:endParaRPr lang="en-US" sz="1500">
              <a:solidFill>
                <a:srgbClr val="B71C1C"/>
              </a:solidFill>
              <a:latin typeface="Calibri"/>
              <a:ea typeface="Calibri"/>
            </a:endParaRPr>
          </a:p>
          <a:p>
            <a:r>
              <a:rPr lang="en-US" sz="1500">
                <a:solidFill>
                  <a:srgbClr val="B71C1C"/>
                </a:solidFill>
                <a:latin typeface="Calibri"/>
                <a:ea typeface="Calibri"/>
              </a:rPr>
              <a:t>Keywords that trigger the safety response:</a:t>
            </a:r>
          </a:p>
          <a:p>
            <a:r>
              <a:rPr lang="en-US" sz="1500">
                <a:solidFill>
                  <a:srgbClr val="B71C1C"/>
                </a:solidFill>
                <a:latin typeface="Calibri"/>
                <a:ea typeface="Calibri"/>
              </a:rPr>
              <a:t>diagnose  diagnosis  prescription  prescribe  medication  drug</a:t>
            </a:r>
          </a:p>
          <a:p>
            <a:r>
              <a:rPr lang="en-US" sz="1500">
                <a:solidFill>
                  <a:srgbClr val="B71C1C"/>
                </a:solidFill>
                <a:latin typeface="Calibri"/>
                <a:ea typeface="Calibri"/>
              </a:rPr>
              <a:t>disease  cure  treat  surgery  overdose  poison</a:t>
            </a:r>
          </a:p>
          <a:p>
            <a:r>
              <a:rPr lang="en-US" sz="1500">
                <a:solidFill>
                  <a:srgbClr val="B71C1C"/>
                </a:solidFill>
                <a:latin typeface="Calibri"/>
                <a:ea typeface="Calibri"/>
              </a:rPr>
              <a:t>suicide  self-harm  anorexia  bulimia  eating disorder</a:t>
            </a:r>
          </a:p>
          <a:p>
            <a:endParaRPr lang="en-US" sz="1500">
              <a:solidFill>
                <a:srgbClr val="B71C1C"/>
              </a:solidFill>
              <a:latin typeface="Calibri"/>
              <a:ea typeface="Calibri"/>
            </a:endParaRPr>
          </a:p>
          <a:p>
            <a:r>
              <a:rPr lang="en-US" sz="1500">
                <a:solidFill>
                  <a:srgbClr val="B71C1C"/>
                </a:solidFill>
                <a:latin typeface="Calibri"/>
                <a:ea typeface="Calibri"/>
              </a:rPr>
              <a:t>When a blocked keyword is detected:</a:t>
            </a:r>
          </a:p>
          <a:p>
            <a:r>
              <a:rPr lang="en-US" sz="1500">
                <a:solidFill>
                  <a:srgbClr val="B71C1C"/>
                </a:solidFill>
                <a:latin typeface="Calibri"/>
                <a:ea typeface="Calibri"/>
              </a:rPr>
              <a:t>→ LLM is NOT called</a:t>
            </a:r>
          </a:p>
          <a:p>
            <a:r>
              <a:rPr lang="en-US" sz="1500">
                <a:solidFill>
                  <a:srgbClr val="B71C1C"/>
                </a:solidFill>
                <a:latin typeface="Calibri"/>
                <a:ea typeface="Calibri"/>
              </a:rPr>
              <a:t>→ A safe redirect response is returned immediately</a:t>
            </a:r>
          </a:p>
          <a:p>
            <a:r>
              <a:rPr lang="en-US" sz="1500">
                <a:solidFill>
                  <a:srgbClr val="B71C1C"/>
                </a:solidFill>
                <a:latin typeface="Calibri"/>
                <a:ea typeface="Calibri"/>
              </a:rPr>
              <a:t>→ is_safe: false is returned to the frontend</a:t>
            </a:r>
          </a:p>
          <a:p>
            <a:r>
              <a:rPr lang="en-US" sz="1500">
                <a:solidFill>
                  <a:srgbClr val="B71C1C"/>
                </a:solidFill>
                <a:latin typeface="Calibri"/>
                <a:ea typeface="Calibri"/>
              </a:rPr>
              <a:t>→ UI shows a red warning banner</a:t>
            </a:r>
          </a:p>
        </p:txBody>
      </p:sp>
      <p:sp>
        <p:nvSpPr>
          <p:cNvPr id="100109" name="Ethics"/>
          <p:cNvSpPr txBox="1"/>
          <p:nvPr/>
        </p:nvSpPr>
        <p:spPr>
          <a:xfrm>
            <a:off x="7560000" y="1008000"/>
            <a:ext cx="4273200" cy="2880000"/>
          </a:xfrm>
          <a:prstGeom prst="rect">
            <a:avLst/>
          </a:prstGeom>
          <a:solidFill>
            <a:srgbClr val="E8F4FD"/>
          </a:solidFill>
        </p:spPr>
        <p:txBody>
          <a:bodyPr/>
          <a:lstStyle/>
          <a:p>
            <a:r>
              <a:rPr lang="en-US" sz="1500">
                <a:solidFill>
                  <a:srgbClr val="1A3A5C"/>
                </a:solidFill>
                <a:latin typeface="Calibri"/>
                <a:ea typeface="Calibri"/>
              </a:rPr>
              <a:t>AI Ethics Principles</a:t>
            </a:r>
          </a:p>
          <a:p>
            <a:endParaRPr lang="en-US" sz="1500">
              <a:solidFill>
                <a:srgbClr val="1A3A5C"/>
              </a:solidFill>
              <a:latin typeface="Calibri"/>
              <a:ea typeface="Calibri"/>
            </a:endParaRPr>
          </a:p>
          <a:p>
            <a:r>
              <a:rPr lang="en-US" sz="1500">
                <a:solidFill>
                  <a:srgbClr val="1A3A5C"/>
                </a:solidFill>
                <a:latin typeface="Calibri"/>
                <a:ea typeface="Calibri"/>
              </a:rPr>
              <a:t>✓ Medical disclaimer on every nutrition response</a:t>
            </a:r>
          </a:p>
          <a:p>
            <a:r>
              <a:rPr lang="en-US" sz="1500">
                <a:solidFill>
                  <a:srgbClr val="1A3A5C"/>
                </a:solidFill>
                <a:latin typeface="Calibri"/>
                <a:ea typeface="Calibri"/>
              </a:rPr>
              <a:t>✓ No diagnosis, no prescription, no treatment advice</a:t>
            </a:r>
          </a:p>
          <a:p>
            <a:r>
              <a:rPr lang="en-US" sz="1500">
                <a:solidFill>
                  <a:srgbClr val="1A3A5C"/>
                </a:solidFill>
                <a:latin typeface="Calibri"/>
                <a:ea typeface="Calibri"/>
              </a:rPr>
              <a:t>✓ Culturally inclusive — South Asian, Mediterranean,</a:t>
            </a:r>
          </a:p>
          <a:p>
            <a:r>
              <a:rPr lang="en-US" sz="1500">
                <a:solidFill>
                  <a:srgbClr val="1A3A5C"/>
                </a:solidFill>
                <a:latin typeface="Calibri"/>
                <a:ea typeface="Calibri"/>
              </a:rPr>
              <a:t>   continental, regional Indian meal options</a:t>
            </a:r>
          </a:p>
          <a:p>
            <a:r>
              <a:rPr lang="en-US" sz="1500">
                <a:solidFill>
                  <a:srgbClr val="1A3A5C"/>
                </a:solidFill>
                <a:latin typeface="Calibri"/>
                <a:ea typeface="Calibri"/>
              </a:rPr>
              <a:t>✓ Bias-free dietary guidance across food traditions</a:t>
            </a:r>
          </a:p>
          <a:p>
            <a:r>
              <a:rPr lang="en-US" sz="1500">
                <a:solidFill>
                  <a:srgbClr val="1A3A5C"/>
                </a:solidFill>
                <a:latin typeface="Calibri"/>
                <a:ea typeface="Calibri"/>
              </a:rPr>
              <a:t>✓ No PII sent to third parties except IBM WatsonX</a:t>
            </a:r>
          </a:p>
          <a:p>
            <a:r>
              <a:rPr lang="en-US" sz="1500">
                <a:solidFill>
                  <a:srgbClr val="1A3A5C"/>
                </a:solidFill>
                <a:latin typeface="Calibri"/>
                <a:ea typeface="Calibri"/>
              </a:rPr>
              <a:t>  (profile name, diet, goals — for personalization only)</a:t>
            </a:r>
          </a:p>
          <a:p>
            <a:r>
              <a:rPr lang="en-US" sz="1500">
                <a:solidFill>
                  <a:srgbClr val="1A3A5C"/>
                </a:solidFill>
                <a:latin typeface="Calibri"/>
                <a:ea typeface="Calibri"/>
              </a:rPr>
              <a:t>✓ User profiles stored locally — never in repository</a:t>
            </a:r>
          </a:p>
          <a:p>
            <a:r>
              <a:rPr lang="en-US" sz="1500">
                <a:solidFill>
                  <a:srgbClr val="1A3A5C"/>
                </a:solidFill>
                <a:latin typeface="Calibri"/>
                <a:ea typeface="Calibri"/>
              </a:rPr>
              <a:t>✓ Respect for all dietary choices (vegan, jain, etc.)</a:t>
            </a:r>
          </a:p>
          <a:p>
            <a:r>
              <a:rPr lang="en-US" sz="1500">
                <a:solidFill>
                  <a:srgbClr val="1A3A5C"/>
                </a:solidFill>
                <a:latin typeface="Calibri"/>
                <a:ea typeface="Calibri"/>
              </a:rPr>
              <a:t>✓ Acknowledges uncertainty in nutrition science</a:t>
            </a:r>
          </a:p>
        </p:txBody>
      </p:sp>
      <p:sp>
        <p:nvSpPr>
          <p:cNvPr id="100110" name="Disclaimer"/>
          <p:cNvSpPr txBox="1"/>
          <p:nvPr/>
        </p:nvSpPr>
        <p:spPr>
          <a:xfrm>
            <a:off x="720000" y="4140000"/>
            <a:ext cx="10753200" cy="1080000"/>
          </a:xfrm>
          <a:prstGeom prst="rect">
            <a:avLst/>
          </a:prstGeom>
          <a:solidFill>
            <a:srgbClr val="FFF3E0"/>
          </a:solidFill>
        </p:spPr>
        <p:txBody>
          <a:bodyPr/>
          <a:lstStyle/>
          <a:p>
            <a:r>
              <a:rPr lang="en-US" sz="1500" b="1">
                <a:solidFill>
                  <a:srgbClr val="8B5E00"/>
                </a:solidFill>
                <a:latin typeface="Calibri"/>
                <a:ea typeface="Calibri"/>
              </a:rPr>
              <a:t>Medical Disclaimer (shown on every response):</a:t>
            </a:r>
          </a:p>
          <a:p>
            <a:r>
              <a:rPr lang="en-US" sz="1500" b="1">
                <a:solidFill>
                  <a:srgbClr val="8B5E00"/>
                </a:solidFill>
                <a:latin typeface="Calibri"/>
                <a:ea typeface="Calibri"/>
              </a:rPr>
              <a:t>"This information is for educational purposes only and is NOT a substitute for professional medical advice. Please consult a qualified healthcare provider or registered dietitian before making significant dietary changes, especially if you have a medical condition."</a:t>
            </a:r>
          </a:p>
        </p:txBody>
      </p:sp>
      <p:sp>
        <p:nvSpPr>
          <p:cNvPr id="100111" name="Footer"/>
          <p:cNvSpPr txBox="1"/>
          <p:nvPr/>
        </p:nvSpPr>
        <p:spPr>
          <a:xfrm>
            <a:off x="0" y="6408000"/>
            <a:ext cx="12193200" cy="432000"/>
          </a:xfrm>
          <a:prstGeom prst="rect">
            <a:avLst/>
          </a:prstGeom>
          <a:solidFill>
            <a:srgbClr val="1A3A5C"/>
          </a:solidFill>
        </p:spPr>
        <p:txBody>
          <a:bodyPr/>
          <a:lstStyle/>
          <a:p>
            <a:r>
              <a:rPr lang="en-US" sz="1200">
                <a:solidFill>
                  <a:srgbClr val="AECDE8"/>
                </a:solidFill>
                <a:latin typeface="Calibri"/>
                <a:ea typeface="Calibri"/>
              </a:rPr>
              <a:t>Slide 19 of 25</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100112" name="Header"/>
          <p:cNvSpPr txBox="1"/>
          <p:nvPr/>
        </p:nvSpPr>
        <p:spPr>
          <a:xfrm>
            <a:off x="0" y="0"/>
            <a:ext cx="12193200" cy="792000"/>
          </a:xfrm>
          <a:prstGeom prst="rect">
            <a:avLst/>
          </a:prstGeom>
          <a:solidFill>
            <a:srgbClr val="1A3A5C"/>
          </a:solidFill>
        </p:spPr>
        <p:txBody>
          <a:bodyPr/>
          <a:lstStyle/>
          <a:p>
            <a:r>
              <a:rPr lang="en-US" sz="3000" b="1">
                <a:solidFill>
                  <a:srgbClr val="FFFFFF"/>
                </a:solidFill>
                <a:latin typeface="Calibri"/>
                <a:ea typeface="Calibri"/>
              </a:rPr>
              <a:t>18.  Security &amp; Privacy  [DONE]</a:t>
            </a:r>
          </a:p>
        </p:txBody>
      </p:sp>
      <p:sp>
        <p:nvSpPr>
          <p:cNvPr id="100113" name="SecCol"/>
          <p:cNvSpPr txBox="1"/>
          <p:nvPr/>
        </p:nvSpPr>
        <p:spPr>
          <a:xfrm>
            <a:off x="720000" y="1008000"/>
            <a:ext cx="5040000" cy="4320000"/>
          </a:xfrm>
          <a:prstGeom prst="rect">
            <a:avLst/>
          </a:prstGeom>
          <a:solidFill>
            <a:srgbClr val="E8F4FD"/>
          </a:solidFill>
        </p:spPr>
        <p:txBody>
          <a:bodyPr/>
          <a:lstStyle/>
          <a:p>
            <a:r>
              <a:rPr lang="en-US" sz="1600">
                <a:solidFill>
                  <a:srgbClr val="1A3A5C"/>
                </a:solidFill>
                <a:latin typeface="Calibri"/>
                <a:ea typeface="Calibri"/>
              </a:rPr>
              <a:t>Security Measures</a:t>
            </a:r>
          </a:p>
          <a:p>
            <a:endParaRPr lang="en-US" sz="1600">
              <a:solidFill>
                <a:srgbClr val="1A3A5C"/>
              </a:solidFill>
              <a:latin typeface="Calibri"/>
              <a:ea typeface="Calibri"/>
            </a:endParaRPr>
          </a:p>
          <a:p>
            <a:r>
              <a:rPr lang="en-US" sz="1600">
                <a:solidFill>
                  <a:srgbClr val="1A3A5C"/>
                </a:solidFill>
                <a:latin typeface="Calibri"/>
                <a:ea typeface="Calibri"/>
              </a:rPr>
              <a:t>• All IBM API keys stored ONLY in .env file</a:t>
            </a:r>
          </a:p>
          <a:p>
            <a:r>
              <a:rPr lang="en-US" sz="1600">
                <a:solidFill>
                  <a:srgbClr val="1A3A5C"/>
                </a:solidFill>
                <a:latin typeface="Calibri"/>
                <a:ea typeface="Calibri"/>
              </a:rPr>
              <a:t>  (excluded from repository via .gitignore)</a:t>
            </a:r>
          </a:p>
          <a:p>
            <a:r>
              <a:rPr lang="en-US" sz="1600">
                <a:solidFill>
                  <a:srgbClr val="1A3A5C"/>
                </a:solidFill>
                <a:latin typeface="Calibri"/>
                <a:ea typeface="Calibri"/>
              </a:rPr>
              <a:t>• .env.example committed with placeholder values</a:t>
            </a:r>
          </a:p>
          <a:p>
            <a:r>
              <a:rPr lang="en-US" sz="1600">
                <a:solidFill>
                  <a:srgbClr val="1A3A5C"/>
                </a:solidFill>
                <a:latin typeface="Calibri"/>
                <a:ea typeface="Calibri"/>
              </a:rPr>
              <a:t>• No passwords, tokens, or secrets in any file</a:t>
            </a:r>
          </a:p>
          <a:p>
            <a:r>
              <a:rPr lang="en-US" sz="1600">
                <a:solidFill>
                  <a:srgbClr val="1A3A5C"/>
                </a:solidFill>
                <a:latin typeface="Calibri"/>
                <a:ea typeface="Calibri"/>
              </a:rPr>
              <a:t>  in the git repository</a:t>
            </a:r>
          </a:p>
          <a:p>
            <a:r>
              <a:rPr lang="en-US" sz="1600">
                <a:solidFill>
                  <a:srgbClr val="1A3A5C"/>
                </a:solidFill>
                <a:latin typeface="Calibri"/>
                <a:ea typeface="Calibri"/>
              </a:rPr>
              <a:t>• Pydantic models validate all API inputs</a:t>
            </a:r>
          </a:p>
          <a:p>
            <a:r>
              <a:rPr lang="en-US" sz="1600">
                <a:solidFill>
                  <a:srgbClr val="1A3A5C"/>
                </a:solidFill>
                <a:latin typeface="Calibri"/>
                <a:ea typeface="Calibri"/>
              </a:rPr>
              <a:t>• File upload restricted to .txt / .md / .csv</a:t>
            </a:r>
          </a:p>
          <a:p>
            <a:r>
              <a:rPr lang="en-US" sz="1600">
                <a:solidFill>
                  <a:srgbClr val="1A3A5C"/>
                </a:solidFill>
                <a:latin typeface="Calibri"/>
                <a:ea typeface="Calibri"/>
              </a:rPr>
              <a:t>• CORS configured on FastAPI backend</a:t>
            </a:r>
          </a:p>
          <a:p>
            <a:r>
              <a:rPr lang="en-US" sz="1600">
                <a:solidFill>
                  <a:srgbClr val="1A3A5C"/>
                </a:solidFill>
                <a:latin typeface="Calibri"/>
                <a:ea typeface="Calibri"/>
              </a:rPr>
              <a:t>• SECURITY.md documents vulnerability reporting</a:t>
            </a:r>
          </a:p>
          <a:p>
            <a:r>
              <a:rPr lang="en-US" sz="1600">
                <a:solidFill>
                  <a:srgbClr val="1A3A5C"/>
                </a:solidFill>
                <a:latin typeface="Calibri"/>
                <a:ea typeface="Calibri"/>
              </a:rPr>
              <a:t>• Verified: git grep finds no real credentials</a:t>
            </a:r>
          </a:p>
        </p:txBody>
      </p:sp>
      <p:sp>
        <p:nvSpPr>
          <p:cNvPr id="100114" name="PrivCol"/>
          <p:cNvSpPr txBox="1"/>
          <p:nvPr/>
        </p:nvSpPr>
        <p:spPr>
          <a:xfrm>
            <a:off x="6120000" y="1008000"/>
            <a:ext cx="5713200" cy="4320000"/>
          </a:xfrm>
          <a:prstGeom prst="rect">
            <a:avLst/>
          </a:prstGeom>
          <a:solidFill>
            <a:srgbClr val="E8F4FD"/>
          </a:solidFill>
        </p:spPr>
        <p:txBody>
          <a:bodyPr/>
          <a:lstStyle/>
          <a:p>
            <a:r>
              <a:rPr lang="en-US" sz="1600">
                <a:solidFill>
                  <a:srgbClr val="1A3A5C"/>
                </a:solidFill>
                <a:latin typeface="Calibri"/>
                <a:ea typeface="Calibri"/>
              </a:rPr>
              <a:t>Privacy Measures</a:t>
            </a:r>
          </a:p>
          <a:p>
            <a:endParaRPr lang="en-US" sz="1600">
              <a:solidFill>
                <a:srgbClr val="1A3A5C"/>
              </a:solidFill>
              <a:latin typeface="Calibri"/>
              <a:ea typeface="Calibri"/>
            </a:endParaRPr>
          </a:p>
          <a:p>
            <a:r>
              <a:rPr lang="en-US" sz="1600">
                <a:solidFill>
                  <a:srgbClr val="1A3A5C"/>
                </a:solidFill>
                <a:latin typeface="Calibri"/>
                <a:ea typeface="Calibri"/>
              </a:rPr>
              <a:t>• User profiles (age, weight, medical history)</a:t>
            </a:r>
          </a:p>
          <a:p>
            <a:r>
              <a:rPr lang="en-US" sz="1600">
                <a:solidFill>
                  <a:srgbClr val="1A3A5C"/>
                </a:solidFill>
                <a:latin typeface="Calibri"/>
                <a:ea typeface="Calibri"/>
              </a:rPr>
              <a:t>  stored locally as JSON in data/profiles/</a:t>
            </a:r>
          </a:p>
          <a:p>
            <a:r>
              <a:rPr lang="en-US" sz="1600">
                <a:solidFill>
                  <a:srgbClr val="1A3A5C"/>
                </a:solidFill>
                <a:latin typeface="Calibri"/>
                <a:ea typeface="Calibri"/>
              </a:rPr>
              <a:t>  — excluded from repository via .gitignore</a:t>
            </a:r>
          </a:p>
          <a:p>
            <a:r>
              <a:rPr lang="en-US" sz="1600">
                <a:solidFill>
                  <a:srgbClr val="1A3A5C"/>
                </a:solidFill>
                <a:latin typeface="Calibri"/>
                <a:ea typeface="Calibri"/>
              </a:rPr>
              <a:t>• ChromaDB (only document embeddings, no</a:t>
            </a:r>
          </a:p>
          <a:p>
            <a:r>
              <a:rPr lang="en-US" sz="1600">
                <a:solidFill>
                  <a:srgbClr val="1A3A5C"/>
                </a:solidFill>
                <a:latin typeface="Calibri"/>
                <a:ea typeface="Calibri"/>
              </a:rPr>
              <a:t>  personal data) — also excluded from repo</a:t>
            </a:r>
          </a:p>
          <a:p>
            <a:r>
              <a:rPr lang="en-US" sz="1600">
                <a:solidFill>
                  <a:srgbClr val="1A3A5C"/>
                </a:solidFill>
                <a:latin typeface="Calibri"/>
                <a:ea typeface="Calibri"/>
              </a:rPr>
              <a:t>• Chat queries sent to IBM WatsonX only</a:t>
            </a:r>
          </a:p>
          <a:p>
            <a:r>
              <a:rPr lang="en-US" sz="1600">
                <a:solidFill>
                  <a:srgbClr val="1A3A5C"/>
                </a:solidFill>
                <a:latin typeface="Calibri"/>
                <a:ea typeface="Calibri"/>
              </a:rPr>
              <a:t>  when live credentials are configured</a:t>
            </a:r>
          </a:p>
          <a:p>
            <a:r>
              <a:rPr lang="en-US" sz="1600">
                <a:solidFill>
                  <a:srgbClr val="1A3A5C"/>
                </a:solidFill>
                <a:latin typeface="Calibri"/>
                <a:ea typeface="Calibri"/>
              </a:rPr>
              <a:t>• No third-party analytics, tracking, or</a:t>
            </a:r>
          </a:p>
          <a:p>
            <a:r>
              <a:rPr lang="en-US" sz="1600">
                <a:solidFill>
                  <a:srgbClr val="1A3A5C"/>
                </a:solidFill>
                <a:latin typeface="Calibri"/>
                <a:ea typeface="Calibri"/>
              </a:rPr>
              <a:t>  cookies in the frontend</a:t>
            </a:r>
          </a:p>
          <a:p>
            <a:r>
              <a:rPr lang="en-US" sz="1600">
                <a:solidFill>
                  <a:srgbClr val="1A3A5C"/>
                </a:solidFill>
                <a:latin typeface="Calibri"/>
                <a:ea typeface="Calibri"/>
              </a:rPr>
              <a:t>• PRIVACY.md documents all data flows</a:t>
            </a:r>
          </a:p>
          <a:p>
            <a:r>
              <a:rPr lang="en-US" sz="1600">
                <a:solidFill>
                  <a:srgbClr val="1A3A5C"/>
                </a:solidFill>
                <a:latin typeface="Calibri"/>
                <a:ea typeface="Calibri"/>
              </a:rPr>
              <a:t>  and user rights</a:t>
            </a:r>
          </a:p>
          <a:p>
            <a:r>
              <a:rPr lang="en-US" sz="1600">
                <a:solidFill>
                  <a:srgbClr val="1A3A5C"/>
                </a:solidFill>
                <a:latin typeface="Calibri"/>
                <a:ea typeface="Calibri"/>
              </a:rPr>
              <a:t>• Session chat history not persisted to disk</a:t>
            </a:r>
          </a:p>
        </p:txBody>
      </p:sp>
      <p:sp>
        <p:nvSpPr>
          <p:cNvPr id="100115" name="Footer"/>
          <p:cNvSpPr txBox="1"/>
          <p:nvPr/>
        </p:nvSpPr>
        <p:spPr>
          <a:xfrm>
            <a:off x="0" y="6408000"/>
            <a:ext cx="12193200" cy="432000"/>
          </a:xfrm>
          <a:prstGeom prst="rect">
            <a:avLst/>
          </a:prstGeom>
          <a:solidFill>
            <a:srgbClr val="1A3A5C"/>
          </a:solidFill>
        </p:spPr>
        <p:txBody>
          <a:bodyPr/>
          <a:lstStyle/>
          <a:p>
            <a:r>
              <a:rPr lang="en-US" sz="1200">
                <a:solidFill>
                  <a:srgbClr val="AECDE8"/>
                </a:solidFill>
                <a:latin typeface="Calibri"/>
                <a:ea typeface="Calibri"/>
              </a:rPr>
              <a:t>Slide 20 of 25</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100116" name="Header"/>
          <p:cNvSpPr txBox="1"/>
          <p:nvPr/>
        </p:nvSpPr>
        <p:spPr>
          <a:xfrm>
            <a:off x="0" y="0"/>
            <a:ext cx="12193200" cy="792000"/>
          </a:xfrm>
          <a:prstGeom prst="rect">
            <a:avLst/>
          </a:prstGeom>
          <a:solidFill>
            <a:srgbClr val="1A3A5C"/>
          </a:solidFill>
        </p:spPr>
        <p:txBody>
          <a:bodyPr/>
          <a:lstStyle/>
          <a:p>
            <a:r>
              <a:rPr lang="en-US" sz="3000" b="1">
                <a:solidFill>
                  <a:srgbClr val="FFFFFF"/>
                </a:solidFill>
                <a:latin typeface="Calibri"/>
                <a:ea typeface="Calibri"/>
              </a:rPr>
              <a:t>19.  Testing Results  [25 / 25 PASSED]</a:t>
            </a:r>
          </a:p>
        </p:txBody>
      </p:sp>
      <p:sp>
        <p:nvSpPr>
          <p:cNvPr id="100117" name="RunInfo"/>
          <p:cNvSpPr txBox="1"/>
          <p:nvPr/>
        </p:nvSpPr>
        <p:spPr>
          <a:xfrm>
            <a:off x="720000" y="1008000"/>
            <a:ext cx="10753200" cy="468000"/>
          </a:xfrm>
          <a:prstGeom prst="rect">
            <a:avLst/>
          </a:prstGeom>
          <a:solidFill>
            <a:srgbClr val="0D2137"/>
          </a:solidFill>
        </p:spPr>
        <p:txBody>
          <a:bodyPr/>
          <a:lstStyle/>
          <a:p>
            <a:r>
              <a:rPr lang="en-US" sz="1400">
                <a:solidFill>
                  <a:srgbClr val="E8F4FD"/>
                </a:solidFill>
                <a:latin typeface="Courier New"/>
                <a:ea typeface="Courier New"/>
              </a:rPr>
              <a:t>Command:  cd dip_diet_agent  &amp;&amp;  python -m pytest tests/ -v</a:t>
            </a:r>
          </a:p>
          <a:p>
            <a:r>
              <a:rPr lang="en-US" sz="1400">
                <a:solidFill>
                  <a:srgbClr val="E8F4FD"/>
                </a:solidFill>
                <a:latin typeface="Courier New"/>
                <a:ea typeface="Courier New"/>
              </a:rPr>
              <a:t>Python 3.14.6  |  pytest 9.1.1  |  Platform: Windows 10</a:t>
            </a:r>
          </a:p>
        </p:txBody>
      </p:sp>
      <p:sp>
        <p:nvSpPr>
          <p:cNvPr id="100118" name="Results"/>
          <p:cNvSpPr txBox="1"/>
          <p:nvPr/>
        </p:nvSpPr>
        <p:spPr>
          <a:xfrm>
            <a:off x="720000" y="1548000"/>
            <a:ext cx="10753200" cy="4500000"/>
          </a:xfrm>
          <a:prstGeom prst="rect">
            <a:avLst/>
          </a:prstGeom>
          <a:solidFill>
            <a:srgbClr val="F0FFF0"/>
          </a:solidFill>
        </p:spPr>
        <p:txBody>
          <a:bodyPr/>
          <a:lstStyle/>
          <a:p>
            <a:r>
              <a:rPr lang="en-US" sz="1200">
                <a:solidFill>
                  <a:srgbClr val="1A3A5C"/>
                </a:solidFill>
                <a:latin typeface="Courier New"/>
                <a:ea typeface="Courier New"/>
              </a:rPr>
              <a:t>Test Class                          Tests  Result</a:t>
            </a:r>
          </a:p>
          <a:p>
            <a:r>
              <a:rPr lang="en-US" sz="1200">
                <a:solidFill>
                  <a:srgbClr val="1A3A5C"/>
                </a:solidFill>
                <a:latin typeface="Courier New"/>
                <a:ea typeface="Courier New"/>
              </a:rPr>
              <a:t>─────────────────────────────────────────────────────</a:t>
            </a:r>
          </a:p>
          <a:p>
            <a:r>
              <a:rPr lang="en-US" sz="1200">
                <a:solidFill>
                  <a:srgbClr val="1A3A5C"/>
                </a:solidFill>
                <a:latin typeface="Courier New"/>
                <a:ea typeface="Courier New"/>
              </a:rPr>
              <a:t>TestConfig                               2   PASSED</a:t>
            </a:r>
          </a:p>
          <a:p>
            <a:r>
              <a:rPr lang="en-US" sz="1200">
                <a:solidFill>
                  <a:srgbClr val="1A3A5C"/>
                </a:solidFill>
                <a:latin typeface="Courier New"/>
                <a:ea typeface="Courier New"/>
              </a:rPr>
              <a:t>  test_config_imports</a:t>
            </a:r>
          </a:p>
          <a:p>
            <a:r>
              <a:rPr lang="en-US" sz="1200">
                <a:solidFill>
                  <a:srgbClr val="1A3A5C"/>
                </a:solidFill>
                <a:latin typeface="Courier New"/>
                <a:ea typeface="Courier New"/>
              </a:rPr>
              <a:t>  test_demo_mode_flag</a:t>
            </a:r>
          </a:p>
          <a:p>
            <a:endParaRPr lang="en-US" sz="1200">
              <a:solidFill>
                <a:srgbClr val="1A3A5C"/>
              </a:solidFill>
              <a:latin typeface="Courier New"/>
              <a:ea typeface="Courier New"/>
            </a:endParaRPr>
          </a:p>
          <a:p>
            <a:r>
              <a:rPr lang="en-US" sz="1200">
                <a:solidFill>
                  <a:srgbClr val="1A3A5C"/>
                </a:solidFill>
                <a:latin typeface="Courier New"/>
                <a:ea typeface="Courier New"/>
              </a:rPr>
              <a:t>TestModels                               5   PASSED</a:t>
            </a:r>
          </a:p>
          <a:p>
            <a:r>
              <a:rPr lang="en-US" sz="1200">
                <a:solidFill>
                  <a:srgbClr val="1A3A5C"/>
                </a:solidFill>
                <a:latin typeface="Courier New"/>
                <a:ea typeface="Courier New"/>
              </a:rPr>
              <a:t>  test_user_profile_minimal</a:t>
            </a:r>
          </a:p>
          <a:p>
            <a:r>
              <a:rPr lang="en-US" sz="1200">
                <a:solidFill>
                  <a:srgbClr val="1A3A5C"/>
                </a:solidFill>
                <a:latin typeface="Courier New"/>
                <a:ea typeface="Courier New"/>
              </a:rPr>
              <a:t>  test_user_profile_full</a:t>
            </a:r>
          </a:p>
          <a:p>
            <a:r>
              <a:rPr lang="en-US" sz="1200">
                <a:solidFill>
                  <a:srgbClr val="1A3A5C"/>
                </a:solidFill>
                <a:latin typeface="Courier New"/>
                <a:ea typeface="Courier New"/>
              </a:rPr>
              <a:t>  test_chat_request_model</a:t>
            </a:r>
          </a:p>
          <a:p>
            <a:r>
              <a:rPr lang="en-US" sz="1200">
                <a:solidFill>
                  <a:srgbClr val="1A3A5C"/>
                </a:solidFill>
                <a:latin typeface="Courier New"/>
                <a:ea typeface="Courier New"/>
              </a:rPr>
              <a:t>  test_meal_plan_request_model</a:t>
            </a:r>
          </a:p>
          <a:p>
            <a:r>
              <a:rPr lang="en-US" sz="1200">
                <a:solidFill>
                  <a:srgbClr val="1A3A5C"/>
                </a:solidFill>
                <a:latin typeface="Courier New"/>
                <a:ea typeface="Courier New"/>
              </a:rPr>
              <a:t>  test_age_validation</a:t>
            </a:r>
          </a:p>
          <a:p>
            <a:endParaRPr lang="en-US" sz="1200">
              <a:solidFill>
                <a:srgbClr val="1A3A5C"/>
              </a:solidFill>
              <a:latin typeface="Courier New"/>
              <a:ea typeface="Courier New"/>
            </a:endParaRPr>
          </a:p>
          <a:p>
            <a:r>
              <a:rPr lang="en-US" sz="1200">
                <a:solidFill>
                  <a:srgbClr val="1A3A5C"/>
                </a:solidFill>
                <a:latin typeface="Courier New"/>
                <a:ea typeface="Courier New"/>
              </a:rPr>
              <a:t>TestMealPlanGenerator                    8   PASSED</a:t>
            </a:r>
          </a:p>
          <a:p>
            <a:r>
              <a:rPr lang="en-US" sz="1200">
                <a:solidFill>
                  <a:srgbClr val="1A3A5C"/>
                </a:solidFill>
                <a:latin typeface="Courier New"/>
                <a:ea typeface="Courier New"/>
              </a:rPr>
              <a:t>  test_calculate_tdee_female</a:t>
            </a:r>
          </a:p>
          <a:p>
            <a:r>
              <a:rPr lang="en-US" sz="1200">
                <a:solidFill>
                  <a:srgbClr val="1A3A5C"/>
                </a:solidFill>
                <a:latin typeface="Courier New"/>
                <a:ea typeface="Courier New"/>
              </a:rPr>
              <a:t>  test_calculate_tdee_fallback</a:t>
            </a:r>
          </a:p>
          <a:p>
            <a:r>
              <a:rPr lang="en-US" sz="1200">
                <a:solidFill>
                  <a:srgbClr val="1A3A5C"/>
                </a:solidFill>
                <a:latin typeface="Courier New"/>
                <a:ea typeface="Courier New"/>
              </a:rPr>
              <a:t>  test_macro_targets_weight_loss</a:t>
            </a:r>
          </a:p>
          <a:p>
            <a:r>
              <a:rPr lang="en-US" sz="1200">
                <a:solidFill>
                  <a:srgbClr val="1A3A5C"/>
                </a:solidFill>
                <a:latin typeface="Courier New"/>
                <a:ea typeface="Courier New"/>
              </a:rPr>
              <a:t>  test_daily_meal_plan_vegetarian</a:t>
            </a:r>
          </a:p>
          <a:p>
            <a:r>
              <a:rPr lang="en-US" sz="1200">
                <a:solidFill>
                  <a:srgbClr val="1A3A5C"/>
                </a:solidFill>
                <a:latin typeface="Courier New"/>
                <a:ea typeface="Courier New"/>
              </a:rPr>
              <a:t>  test_weekly_meal_plan_has_7_days</a:t>
            </a:r>
          </a:p>
          <a:p>
            <a:r>
              <a:rPr lang="en-US" sz="1200">
                <a:solidFill>
                  <a:srgbClr val="1A3A5C"/>
                </a:solidFill>
                <a:latin typeface="Courier New"/>
                <a:ea typeface="Courier New"/>
              </a:rPr>
              <a:t>  test_meal_plan_has_disclaimer</a:t>
            </a:r>
          </a:p>
          <a:p>
            <a:r>
              <a:rPr lang="en-US" sz="1200">
                <a:solidFill>
                  <a:srgbClr val="1A3A5C"/>
                </a:solidFill>
                <a:latin typeface="Courier New"/>
                <a:ea typeface="Courier New"/>
              </a:rPr>
              <a:t>  test_vegan_plan_generated</a:t>
            </a:r>
          </a:p>
          <a:p>
            <a:r>
              <a:rPr lang="en-US" sz="1200">
                <a:solidFill>
                  <a:srgbClr val="1A3A5C"/>
                </a:solidFill>
                <a:latin typeface="Courier New"/>
                <a:ea typeface="Courier New"/>
              </a:rPr>
              <a:t>  test_allergen_filter</a:t>
            </a:r>
          </a:p>
          <a:p>
            <a:endParaRPr lang="en-US" sz="1200">
              <a:solidFill>
                <a:srgbClr val="1A3A5C"/>
              </a:solidFill>
              <a:latin typeface="Courier New"/>
              <a:ea typeface="Courier New"/>
            </a:endParaRPr>
          </a:p>
          <a:p>
            <a:r>
              <a:rPr lang="en-US" sz="1200">
                <a:solidFill>
                  <a:srgbClr val="1A3A5C"/>
                </a:solidFill>
                <a:latin typeface="Courier New"/>
                <a:ea typeface="Courier New"/>
              </a:rPr>
              <a:t>TestShoppingList                         3   PASSED</a:t>
            </a:r>
          </a:p>
          <a:p>
            <a:r>
              <a:rPr lang="en-US" sz="1200">
                <a:solidFill>
                  <a:srgbClr val="1A3A5C"/>
                </a:solidFill>
                <a:latin typeface="Courier New"/>
                <a:ea typeface="Courier New"/>
              </a:rPr>
              <a:t>  test_shopping_list_generated</a:t>
            </a:r>
          </a:p>
          <a:p>
            <a:r>
              <a:rPr lang="en-US" sz="1200">
                <a:solidFill>
                  <a:srgbClr val="1A3A5C"/>
                </a:solidFill>
                <a:latin typeface="Courier New"/>
                <a:ea typeface="Courier New"/>
              </a:rPr>
              <a:t>  test_shopping_items_have_category</a:t>
            </a:r>
          </a:p>
          <a:p>
            <a:r>
              <a:rPr lang="en-US" sz="1200">
                <a:solidFill>
                  <a:srgbClr val="1A3A5C"/>
                </a:solidFill>
                <a:latin typeface="Courier New"/>
                <a:ea typeface="Courier New"/>
              </a:rPr>
              <a:t>  test_shopping_list_excludes_allergens</a:t>
            </a:r>
          </a:p>
          <a:p>
            <a:endParaRPr lang="en-US" sz="1200">
              <a:solidFill>
                <a:srgbClr val="1A3A5C"/>
              </a:solidFill>
              <a:latin typeface="Courier New"/>
              <a:ea typeface="Courier New"/>
            </a:endParaRPr>
          </a:p>
          <a:p>
            <a:r>
              <a:rPr lang="en-US" sz="1200">
                <a:solidFill>
                  <a:srgbClr val="1A3A5C"/>
                </a:solidFill>
                <a:latin typeface="Courier New"/>
                <a:ea typeface="Courier New"/>
              </a:rPr>
              <a:t>TestRAGPipeline                          4   PASSED</a:t>
            </a:r>
          </a:p>
          <a:p>
            <a:r>
              <a:rPr lang="en-US" sz="1200">
                <a:solidFill>
                  <a:srgbClr val="1A3A5C"/>
                </a:solidFill>
                <a:latin typeface="Courier New"/>
                <a:ea typeface="Courier New"/>
              </a:rPr>
              <a:t>  test_safety_check_safe_query</a:t>
            </a:r>
          </a:p>
          <a:p>
            <a:r>
              <a:rPr lang="en-US" sz="1200">
                <a:solidFill>
                  <a:srgbClr val="1A3A5C"/>
                </a:solidFill>
                <a:latin typeface="Courier New"/>
                <a:ea typeface="Courier New"/>
              </a:rPr>
              <a:t>  test_safety_check_unsafe_query</a:t>
            </a:r>
          </a:p>
          <a:p>
            <a:r>
              <a:rPr lang="en-US" sz="1200">
                <a:solidFill>
                  <a:srgbClr val="1A3A5C"/>
                </a:solidFill>
                <a:latin typeface="Courier New"/>
                <a:ea typeface="Courier New"/>
              </a:rPr>
              <a:t>  test_ingest_and_retrieve</a:t>
            </a:r>
          </a:p>
          <a:p>
            <a:r>
              <a:rPr lang="en-US" sz="1200">
                <a:solidFill>
                  <a:srgbClr val="1A3A5C"/>
                </a:solidFill>
                <a:latin typeface="Courier New"/>
                <a:ea typeface="Courier New"/>
              </a:rPr>
              <a:t>  test_profile_context_builder</a:t>
            </a:r>
          </a:p>
          <a:p>
            <a:endParaRPr lang="en-US" sz="1200">
              <a:solidFill>
                <a:srgbClr val="1A3A5C"/>
              </a:solidFill>
              <a:latin typeface="Courier New"/>
              <a:ea typeface="Courier New"/>
            </a:endParaRPr>
          </a:p>
          <a:p>
            <a:r>
              <a:rPr lang="en-US" sz="1200">
                <a:solidFill>
                  <a:srgbClr val="1A3A5C"/>
                </a:solidFill>
                <a:latin typeface="Courier New"/>
                <a:ea typeface="Courier New"/>
              </a:rPr>
              <a:t>TestLLMClient                            3   PASSED</a:t>
            </a:r>
          </a:p>
          <a:p>
            <a:r>
              <a:rPr lang="en-US" sz="1200">
                <a:solidFill>
                  <a:srgbClr val="1A3A5C"/>
                </a:solidFill>
                <a:latin typeface="Courier New"/>
                <a:ea typeface="Courier New"/>
              </a:rPr>
              <a:t>  test_demo_mode_response_not_empty</a:t>
            </a:r>
          </a:p>
          <a:p>
            <a:r>
              <a:rPr lang="en-US" sz="1200">
                <a:solidFill>
                  <a:srgbClr val="1A3A5C"/>
                </a:solidFill>
                <a:latin typeface="Courier New"/>
                <a:ea typeface="Courier New"/>
              </a:rPr>
              <a:t>  test_demo_mode_dip_diet_response</a:t>
            </a:r>
          </a:p>
          <a:p>
            <a:r>
              <a:rPr lang="en-US" sz="1200">
                <a:solidFill>
                  <a:srgbClr val="1A3A5C"/>
                </a:solidFill>
                <a:latin typeface="Courier New"/>
                <a:ea typeface="Courier New"/>
              </a:rPr>
              <a:t>  test_demo_mode_weight_loss_response</a:t>
            </a:r>
          </a:p>
          <a:p>
            <a:r>
              <a:rPr lang="en-US" sz="1200">
                <a:solidFill>
                  <a:srgbClr val="1A3A5C"/>
                </a:solidFill>
                <a:latin typeface="Courier New"/>
                <a:ea typeface="Courier New"/>
              </a:rPr>
              <a:t>─────────────────────────────────────────────────────</a:t>
            </a:r>
          </a:p>
          <a:p>
            <a:r>
              <a:rPr lang="en-US" sz="1200">
                <a:solidFill>
                  <a:srgbClr val="1A3A5C"/>
                </a:solidFill>
                <a:latin typeface="Courier New"/>
                <a:ea typeface="Courier New"/>
              </a:rPr>
              <a:t>TOTAL                                   25   25 PASSED  0 FAILED</a:t>
            </a:r>
          </a:p>
        </p:txBody>
      </p:sp>
      <p:sp>
        <p:nvSpPr>
          <p:cNvPr id="100119" name="Footer"/>
          <p:cNvSpPr txBox="1"/>
          <p:nvPr/>
        </p:nvSpPr>
        <p:spPr>
          <a:xfrm>
            <a:off x="0" y="6408000"/>
            <a:ext cx="12193200" cy="432000"/>
          </a:xfrm>
          <a:prstGeom prst="rect">
            <a:avLst/>
          </a:prstGeom>
          <a:solidFill>
            <a:srgbClr val="1A3A5C"/>
          </a:solidFill>
        </p:spPr>
        <p:txBody>
          <a:bodyPr/>
          <a:lstStyle/>
          <a:p>
            <a:r>
              <a:rPr lang="en-US" sz="1200">
                <a:solidFill>
                  <a:srgbClr val="AECDE8"/>
                </a:solidFill>
                <a:latin typeface="Calibri"/>
                <a:ea typeface="Calibri"/>
              </a:rPr>
              <a:t>Slide 21 of 25</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100120" name="Header"/>
          <p:cNvSpPr txBox="1"/>
          <p:nvPr/>
        </p:nvSpPr>
        <p:spPr>
          <a:xfrm>
            <a:off x="0" y="0"/>
            <a:ext cx="12193200" cy="792000"/>
          </a:xfrm>
          <a:prstGeom prst="rect">
            <a:avLst/>
          </a:prstGeom>
          <a:solidFill>
            <a:srgbClr val="1A3A5C"/>
          </a:solidFill>
        </p:spPr>
        <p:txBody>
          <a:bodyPr/>
          <a:lstStyle/>
          <a:p>
            <a:r>
              <a:rPr lang="en-US" sz="3200" b="1">
                <a:solidFill>
                  <a:srgbClr val="FFFFFF"/>
                </a:solidFill>
                <a:latin typeface="Calibri"/>
                <a:ea typeface="Calibri"/>
              </a:rPr>
              <a:t>20.  Known Limitations</a:t>
            </a:r>
          </a:p>
        </p:txBody>
      </p:sp>
      <p:sp>
        <p:nvSpPr>
          <p:cNvPr id="100121" name="Limitations"/>
          <p:cNvSpPr txBox="1"/>
          <p:nvPr/>
        </p:nvSpPr>
        <p:spPr>
          <a:xfrm>
            <a:off x="720000" y="1008000"/>
            <a:ext cx="10753200" cy="5040000"/>
          </a:xfrm>
          <a:prstGeom prst="rect">
            <a:avLst/>
          </a:prstGeom>
        </p:spPr>
        <p:txBody>
          <a:bodyPr/>
          <a:lstStyle/>
          <a:p>
            <a:r>
              <a:rPr lang="en-US" sz="1600">
                <a:solidFill>
                  <a:srgbClr val="1A3A5C"/>
                </a:solidFill>
                <a:latin typeface="Calibri"/>
                <a:ea typeface="Calibri"/>
              </a:rPr>
              <a:t>1. IBM Granite LLM requires live credentials</a:t>
            </a:r>
          </a:p>
          <a:p>
            <a:r>
              <a:rPr lang="en-US" sz="1600">
                <a:solidFill>
                  <a:srgbClr val="1A3A5C"/>
                </a:solidFill>
                <a:latin typeface="Calibri"/>
                <a:ea typeface="Calibri"/>
              </a:rPr>
              <a:t>   The system currently runs in Demo Mode (rule-based responses). IBM Granite 13B via WatsonX.ai is fully integrated in code but cannot be demonstrated without a real WATSONX_API_KEY and WATSONX_PROJECT_ID. This is the primary limitation for a college project.</a:t>
            </a:r>
          </a:p>
          <a:p>
            <a:endParaRPr lang="en-US" sz="1600">
              <a:solidFill>
                <a:srgbClr val="1A3A5C"/>
              </a:solidFill>
              <a:latin typeface="Calibri"/>
              <a:ea typeface="Calibri"/>
            </a:endParaRPr>
          </a:p>
          <a:p>
            <a:r>
              <a:rPr lang="en-US" sz="1600">
                <a:solidFill>
                  <a:srgbClr val="1A3A5C"/>
                </a:solidFill>
                <a:latin typeface="Calibri"/>
                <a:ea typeface="Calibri"/>
              </a:rPr>
              <a:t>2. Knowledge base is small (5 documents, ~100 KB)</a:t>
            </a:r>
          </a:p>
          <a:p>
            <a:r>
              <a:rPr lang="en-US" sz="1600">
                <a:solidFill>
                  <a:srgbClr val="1A3A5C"/>
                </a:solidFill>
                <a:latin typeface="Calibri"/>
                <a:ea typeface="Calibri"/>
              </a:rPr>
              <a:t>   Nutrition coverage is good but not exhaustive. Queries on uncommon foods or rare medical conditions may return low-relevance chunks or rely on the LLM's general knowledge.</a:t>
            </a:r>
          </a:p>
          <a:p>
            <a:endParaRPr lang="en-US" sz="1600">
              <a:solidFill>
                <a:srgbClr val="1A3A5C"/>
              </a:solidFill>
              <a:latin typeface="Calibri"/>
              <a:ea typeface="Calibri"/>
            </a:endParaRPr>
          </a:p>
          <a:p>
            <a:r>
              <a:rPr lang="en-US" sz="1600">
                <a:solidFill>
                  <a:srgbClr val="1A3A5C"/>
                </a:solidFill>
                <a:latin typeface="Calibri"/>
                <a:ea typeface="Calibri"/>
              </a:rPr>
              <a:t>3. No user authentication system</a:t>
            </a:r>
          </a:p>
          <a:p>
            <a:r>
              <a:rPr lang="en-US" sz="1600">
                <a:solidFill>
                  <a:srgbClr val="1A3A5C"/>
                </a:solidFill>
                <a:latin typeface="Calibri"/>
                <a:ea typeface="Calibri"/>
              </a:rPr>
              <a:t>   Profiles are identified by user_id (UUID) stored in the browser. There is no login, password, or session management. Not suitable for a multi-user production deployment.</a:t>
            </a:r>
          </a:p>
          <a:p>
            <a:endParaRPr lang="en-US" sz="1600">
              <a:solidFill>
                <a:srgbClr val="1A3A5C"/>
              </a:solidFill>
              <a:latin typeface="Calibri"/>
              <a:ea typeface="Calibri"/>
            </a:endParaRPr>
          </a:p>
          <a:p>
            <a:r>
              <a:rPr lang="en-US" sz="1600">
                <a:solidFill>
                  <a:srgbClr val="1A3A5C"/>
                </a:solidFill>
                <a:latin typeface="Calibri"/>
                <a:ea typeface="Calibri"/>
              </a:rPr>
              <a:t>4. No persistent chat history</a:t>
            </a:r>
          </a:p>
          <a:p>
            <a:r>
              <a:rPr lang="en-US" sz="1600">
                <a:solidFill>
                  <a:srgbClr val="1A3A5C"/>
                </a:solidFill>
                <a:latin typeface="Calibri"/>
                <a:ea typeface="Calibri"/>
              </a:rPr>
              <a:t>   Conversation turns are kept only for the current browser session. Refreshing the page clears the history.</a:t>
            </a:r>
          </a:p>
          <a:p>
            <a:endParaRPr lang="en-US" sz="1600">
              <a:solidFill>
                <a:srgbClr val="1A3A5C"/>
              </a:solidFill>
              <a:latin typeface="Calibri"/>
              <a:ea typeface="Calibri"/>
            </a:endParaRPr>
          </a:p>
          <a:p>
            <a:r>
              <a:rPr lang="en-US" sz="1600">
                <a:solidFill>
                  <a:srgbClr val="1A3A5C"/>
                </a:solidFill>
                <a:latin typeface="Calibri"/>
                <a:ea typeface="Calibri"/>
              </a:rPr>
              <a:t>5. Meal library is pre-defined (not LLM-generated in Demo Mode)</a:t>
            </a:r>
          </a:p>
          <a:p>
            <a:r>
              <a:rPr lang="en-US" sz="1600">
                <a:solidFill>
                  <a:srgbClr val="1A3A5C"/>
                </a:solidFill>
                <a:latin typeface="Calibri"/>
                <a:ea typeface="Calibri"/>
              </a:rPr>
              <a:t>   In Demo Mode, meals come from a hardcoded library in meal_plan_generator.py. With IBM Granite connected, the LLM can generate more diverse and creative meal plans.</a:t>
            </a:r>
          </a:p>
          <a:p>
            <a:endParaRPr lang="en-US" sz="1600">
              <a:solidFill>
                <a:srgbClr val="1A3A5C"/>
              </a:solidFill>
              <a:latin typeface="Calibri"/>
              <a:ea typeface="Calibri"/>
            </a:endParaRPr>
          </a:p>
          <a:p>
            <a:r>
              <a:rPr lang="en-US" sz="1600">
                <a:solidFill>
                  <a:srgbClr val="1A3A5C"/>
                </a:solidFill>
                <a:latin typeface="Calibri"/>
                <a:ea typeface="Calibri"/>
              </a:rPr>
              <a:t>6. IBM Cloud deployment not yet executed</a:t>
            </a:r>
          </a:p>
          <a:p>
            <a:r>
              <a:rPr lang="en-US" sz="1600">
                <a:solidFill>
                  <a:srgbClr val="1A3A5C"/>
                </a:solidFill>
                <a:latin typeface="Calibri"/>
                <a:ea typeface="Calibri"/>
              </a:rPr>
              <a:t>   The architecture and Dockerfile design are complete, but the deployment to IBM Cloud Code Engine has not been performed (requires IBM Cloud account and budget).</a:t>
            </a:r>
          </a:p>
        </p:txBody>
      </p:sp>
      <p:sp>
        <p:nvSpPr>
          <p:cNvPr id="100122" name="Footer"/>
          <p:cNvSpPr txBox="1"/>
          <p:nvPr/>
        </p:nvSpPr>
        <p:spPr>
          <a:xfrm>
            <a:off x="0" y="6408000"/>
            <a:ext cx="12193200" cy="432000"/>
          </a:xfrm>
          <a:prstGeom prst="rect">
            <a:avLst/>
          </a:prstGeom>
          <a:solidFill>
            <a:srgbClr val="1A3A5C"/>
          </a:solidFill>
        </p:spPr>
        <p:txBody>
          <a:bodyPr/>
          <a:lstStyle/>
          <a:p>
            <a:r>
              <a:rPr lang="en-US" sz="1200">
                <a:solidFill>
                  <a:srgbClr val="AECDE8"/>
                </a:solidFill>
                <a:latin typeface="Calibri"/>
                <a:ea typeface="Calibri"/>
              </a:rPr>
              <a:t>Slide 22 of 25</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100123" name="Header"/>
          <p:cNvSpPr txBox="1"/>
          <p:nvPr/>
        </p:nvSpPr>
        <p:spPr>
          <a:xfrm>
            <a:off x="0" y="0"/>
            <a:ext cx="12193200" cy="792000"/>
          </a:xfrm>
          <a:prstGeom prst="rect">
            <a:avLst/>
          </a:prstGeom>
          <a:solidFill>
            <a:srgbClr val="1A3A5C"/>
          </a:solidFill>
        </p:spPr>
        <p:txBody>
          <a:bodyPr/>
          <a:lstStyle/>
          <a:p>
            <a:r>
              <a:rPr lang="en-US" sz="3200" b="1">
                <a:solidFill>
                  <a:srgbClr val="FFFFFF"/>
                </a:solidFill>
                <a:latin typeface="Calibri"/>
                <a:ea typeface="Calibri"/>
              </a:rPr>
              <a:t>21.  Future Scope  [PLANNED]</a:t>
            </a:r>
          </a:p>
        </p:txBody>
      </p:sp>
      <p:sp>
        <p:nvSpPr>
          <p:cNvPr id="100124" name="NearTerm"/>
          <p:cNvSpPr txBox="1"/>
          <p:nvPr/>
        </p:nvSpPr>
        <p:spPr>
          <a:xfrm>
            <a:off x="720000" y="1080000"/>
            <a:ext cx="10753200" cy="1980000"/>
          </a:xfrm>
          <a:prstGeom prst="rect">
            <a:avLst/>
          </a:prstGeom>
          <a:solidFill>
            <a:srgbClr val="E8F4FD"/>
          </a:solidFill>
        </p:spPr>
        <p:txBody>
          <a:bodyPr/>
          <a:lstStyle/>
          <a:p>
            <a:r>
              <a:rPr lang="en-US" sz="1700">
                <a:solidFill>
                  <a:srgbClr val="1A3A5C"/>
                </a:solidFill>
                <a:latin typeface="Calibri"/>
                <a:ea typeface="Calibri"/>
              </a:rPr>
              <a:t>Near-Term (Next 3 months)</a:t>
            </a:r>
          </a:p>
          <a:p>
            <a:endParaRPr lang="en-US" sz="1700">
              <a:solidFill>
                <a:srgbClr val="1A3A5C"/>
              </a:solidFill>
              <a:latin typeface="Calibri"/>
              <a:ea typeface="Calibri"/>
            </a:endParaRPr>
          </a:p>
          <a:p>
            <a:r>
              <a:rPr lang="en-US" sz="1700">
                <a:solidFill>
                  <a:srgbClr val="1A3A5C"/>
                </a:solidFill>
                <a:latin typeface="Calibri"/>
                <a:ea typeface="Calibri"/>
              </a:rPr>
              <a:t>→ Activate IBM Granite LLM with real WatsonX.ai credentials</a:t>
            </a:r>
          </a:p>
          <a:p>
            <a:r>
              <a:rPr lang="en-US" sz="1700">
                <a:solidFill>
                  <a:srgbClr val="1A3A5C"/>
                </a:solidFill>
                <a:latin typeface="Calibri"/>
                <a:ea typeface="Calibri"/>
              </a:rPr>
              <a:t>→ Deploy to IBM Cloud Code Engine with IBM Secrets Manager for credential management</a:t>
            </a:r>
          </a:p>
          <a:p>
            <a:r>
              <a:rPr lang="en-US" sz="1700">
                <a:solidFill>
                  <a:srgbClr val="1A3A5C"/>
                </a:solidFill>
                <a:latin typeface="Calibri"/>
                <a:ea typeface="Calibri"/>
              </a:rPr>
              <a:t>→ Expand knowledge base: add 20+ nutrition PDFs and research papers</a:t>
            </a:r>
          </a:p>
          <a:p>
            <a:r>
              <a:rPr lang="en-US" sz="1700">
                <a:solidFill>
                  <a:srgbClr val="1A3A5C"/>
                </a:solidFill>
                <a:latin typeface="Calibri"/>
                <a:ea typeface="Calibri"/>
              </a:rPr>
              <a:t>→ Add user authentication (JWT-based login) for multi-user support</a:t>
            </a:r>
          </a:p>
          <a:p>
            <a:r>
              <a:rPr lang="en-US" sz="1700">
                <a:solidFill>
                  <a:srgbClr val="1A3A5C"/>
                </a:solidFill>
                <a:latin typeface="Calibri"/>
                <a:ea typeface="Calibri"/>
              </a:rPr>
              <a:t>→ Persist conversation history to a database (SQLite or IBM Db2 on Cloud)</a:t>
            </a:r>
          </a:p>
        </p:txBody>
      </p:sp>
      <p:sp>
        <p:nvSpPr>
          <p:cNvPr id="100125" name="MidTerm"/>
          <p:cNvSpPr txBox="1"/>
          <p:nvPr/>
        </p:nvSpPr>
        <p:spPr>
          <a:xfrm>
            <a:off x="720000" y="3240000"/>
            <a:ext cx="10753200" cy="1980000"/>
          </a:xfrm>
          <a:prstGeom prst="rect">
            <a:avLst/>
          </a:prstGeom>
          <a:solidFill>
            <a:srgbClr val="E8F4FD"/>
          </a:solidFill>
        </p:spPr>
        <p:txBody>
          <a:bodyPr/>
          <a:lstStyle/>
          <a:p>
            <a:r>
              <a:rPr lang="en-US" sz="1700">
                <a:solidFill>
                  <a:srgbClr val="1A3A5C"/>
                </a:solidFill>
                <a:latin typeface="Calibri"/>
                <a:ea typeface="Calibri"/>
              </a:rPr>
              <a:t>Medium-Term (3–6 months)</a:t>
            </a:r>
          </a:p>
          <a:p>
            <a:endParaRPr lang="en-US" sz="1700">
              <a:solidFill>
                <a:srgbClr val="1A3A5C"/>
              </a:solidFill>
              <a:latin typeface="Calibri"/>
              <a:ea typeface="Calibri"/>
            </a:endParaRPr>
          </a:p>
          <a:p>
            <a:r>
              <a:rPr lang="en-US" sz="1700">
                <a:solidFill>
                  <a:srgbClr val="1A3A5C"/>
                </a:solidFill>
                <a:latin typeface="Calibri"/>
                <a:ea typeface="Calibri"/>
              </a:rPr>
              <a:t>→ Add PDF and DOCX document ingestion (currently TXT/MD only)</a:t>
            </a:r>
          </a:p>
          <a:p>
            <a:r>
              <a:rPr lang="en-US" sz="1700">
                <a:solidFill>
                  <a:srgbClr val="1A3A5C"/>
                </a:solidFill>
                <a:latin typeface="Calibri"/>
                <a:ea typeface="Calibri"/>
              </a:rPr>
              <a:t>→ Integrate calorie tracking and food logging with a daily diary</a:t>
            </a:r>
          </a:p>
          <a:p>
            <a:r>
              <a:rPr lang="en-US" sz="1700">
                <a:solidFill>
                  <a:srgbClr val="1A3A5C"/>
                </a:solidFill>
                <a:latin typeface="Calibri"/>
                <a:ea typeface="Calibri"/>
              </a:rPr>
              <a:t>→ Add multilingual support (Hindi, Gujarati, Tamil) via IBM Watson Language Translator</a:t>
            </a:r>
          </a:p>
          <a:p>
            <a:r>
              <a:rPr lang="en-US" sz="1700">
                <a:solidFill>
                  <a:srgbClr val="1A3A5C"/>
                </a:solidFill>
                <a:latin typeface="Calibri"/>
                <a:ea typeface="Calibri"/>
              </a:rPr>
              <a:t>→ Build a mobile-responsive Progressive Web App (PWA)</a:t>
            </a:r>
          </a:p>
          <a:p>
            <a:r>
              <a:rPr lang="en-US" sz="1700">
                <a:solidFill>
                  <a:srgbClr val="1A3A5C"/>
                </a:solidFill>
                <a:latin typeface="Calibri"/>
                <a:ea typeface="Calibri"/>
              </a:rPr>
              <a:t>→ Add progress tracking: weight, BMI trend over time with charts</a:t>
            </a:r>
          </a:p>
        </p:txBody>
      </p:sp>
      <p:sp>
        <p:nvSpPr>
          <p:cNvPr id="100126" name="LongTerm"/>
          <p:cNvSpPr txBox="1"/>
          <p:nvPr/>
        </p:nvSpPr>
        <p:spPr>
          <a:xfrm>
            <a:off x="720000" y="5400000"/>
            <a:ext cx="10753200" cy="648000"/>
          </a:xfrm>
          <a:prstGeom prst="rect">
            <a:avLst/>
          </a:prstGeom>
          <a:solidFill>
            <a:srgbClr val="FFF3E0"/>
          </a:solidFill>
        </p:spPr>
        <p:txBody>
          <a:bodyPr/>
          <a:lstStyle/>
          <a:p>
            <a:r>
              <a:rPr lang="en-US" sz="1400">
                <a:solidFill>
                  <a:srgbClr val="8B5E00"/>
                </a:solidFill>
                <a:latin typeface="Calibri"/>
                <a:ea typeface="Calibri"/>
              </a:rPr>
              <a:t>Long-Term (6+ months):  Registered dietitian review loop  ·  Wearable device sync  ·  IBM Watson Health integration  ·  A/B testing for LLM prompt optimization</a:t>
            </a:r>
          </a:p>
        </p:txBody>
      </p:sp>
      <p:sp>
        <p:nvSpPr>
          <p:cNvPr id="100127" name="Footer"/>
          <p:cNvSpPr txBox="1"/>
          <p:nvPr/>
        </p:nvSpPr>
        <p:spPr>
          <a:xfrm>
            <a:off x="0" y="6408000"/>
            <a:ext cx="12193200" cy="432000"/>
          </a:xfrm>
          <a:prstGeom prst="rect">
            <a:avLst/>
          </a:prstGeom>
          <a:solidFill>
            <a:srgbClr val="1A3A5C"/>
          </a:solidFill>
        </p:spPr>
        <p:txBody>
          <a:bodyPr/>
          <a:lstStyle/>
          <a:p>
            <a:r>
              <a:rPr lang="en-US" sz="1200">
                <a:solidFill>
                  <a:srgbClr val="AECDE8"/>
                </a:solidFill>
                <a:latin typeface="Calibri"/>
                <a:ea typeface="Calibri"/>
              </a:rPr>
              <a:t>Slide 23 of 25</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100128" name="Header"/>
          <p:cNvSpPr txBox="1"/>
          <p:nvPr/>
        </p:nvSpPr>
        <p:spPr>
          <a:xfrm>
            <a:off x="0" y="0"/>
            <a:ext cx="12193200" cy="792000"/>
          </a:xfrm>
          <a:prstGeom prst="rect">
            <a:avLst/>
          </a:prstGeom>
          <a:solidFill>
            <a:srgbClr val="1A3A5C"/>
          </a:solidFill>
        </p:spPr>
        <p:txBody>
          <a:bodyPr/>
          <a:lstStyle/>
          <a:p>
            <a:r>
              <a:rPr lang="en-US" sz="3200" b="1">
                <a:solidFill>
                  <a:srgbClr val="FFFFFF"/>
                </a:solidFill>
                <a:latin typeface="Calibri"/>
                <a:ea typeface="Calibri"/>
              </a:rPr>
              <a:t>22.  Project Summary</a:t>
            </a:r>
          </a:p>
        </p:txBody>
      </p:sp>
      <p:sp>
        <p:nvSpPr>
          <p:cNvPr id="100129" name="WhatBuilt"/>
          <p:cNvSpPr txBox="1"/>
          <p:nvPr/>
        </p:nvSpPr>
        <p:spPr>
          <a:xfrm>
            <a:off x="720000" y="1080000"/>
            <a:ext cx="5040000" cy="4320000"/>
          </a:xfrm>
          <a:prstGeom prst="rect">
            <a:avLst/>
          </a:prstGeom>
          <a:solidFill>
            <a:srgbClr val="E8F4FD"/>
          </a:solidFill>
        </p:spPr>
        <p:txBody>
          <a:bodyPr/>
          <a:lstStyle/>
          <a:p>
            <a:r>
              <a:rPr lang="en-US" sz="1700">
                <a:solidFill>
                  <a:srgbClr val="1A3A5C"/>
                </a:solidFill>
                <a:latin typeface="Calibri"/>
                <a:ea typeface="Calibri"/>
              </a:rPr>
              <a:t>What Was Built</a:t>
            </a:r>
          </a:p>
          <a:p>
            <a:endParaRPr lang="en-US" sz="1700">
              <a:solidFill>
                <a:srgbClr val="1A3A5C"/>
              </a:solidFill>
              <a:latin typeface="Calibri"/>
              <a:ea typeface="Calibri"/>
            </a:endParaRPr>
          </a:p>
          <a:p>
            <a:r>
              <a:rPr lang="en-US" sz="1700">
                <a:solidFill>
                  <a:srgbClr val="1A3A5C"/>
                </a:solidFill>
                <a:latin typeface="Calibri"/>
                <a:ea typeface="Calibri"/>
              </a:rPr>
              <a:t>• A fully working local RAG-powered nutrition assistant</a:t>
            </a:r>
          </a:p>
          <a:p>
            <a:r>
              <a:rPr lang="en-US" sz="1700">
                <a:solidFill>
                  <a:srgbClr val="1A3A5C"/>
                </a:solidFill>
                <a:latin typeface="Calibri"/>
                <a:ea typeface="Calibri"/>
              </a:rPr>
              <a:t>• 10 REST API endpoints (FastAPI)</a:t>
            </a:r>
          </a:p>
          <a:p>
            <a:r>
              <a:rPr lang="en-US" sz="1700">
                <a:solidFill>
                  <a:srgbClr val="1A3A5C"/>
                </a:solidFill>
                <a:latin typeface="Calibri"/>
                <a:ea typeface="Calibri"/>
              </a:rPr>
              <a:t>• 5-tab Single Page Application (HTML/CSS/JS)</a:t>
            </a:r>
          </a:p>
          <a:p>
            <a:r>
              <a:rPr lang="en-US" sz="1700">
                <a:solidFill>
                  <a:srgbClr val="1A3A5C"/>
                </a:solidFill>
                <a:latin typeface="Calibri"/>
                <a:ea typeface="Calibri"/>
              </a:rPr>
              <a:t>• 5 curated nutrition knowledge base documents</a:t>
            </a:r>
          </a:p>
          <a:p>
            <a:r>
              <a:rPr lang="en-US" sz="1700">
                <a:solidFill>
                  <a:srgbClr val="1A3A5C"/>
                </a:solidFill>
                <a:latin typeface="Calibri"/>
                <a:ea typeface="Calibri"/>
              </a:rPr>
              <a:t>• 7 backend Python modules (3,000+ lines of code)</a:t>
            </a:r>
          </a:p>
          <a:p>
            <a:r>
              <a:rPr lang="en-US" sz="1700">
                <a:solidFill>
                  <a:srgbClr val="1A3A5C"/>
                </a:solidFill>
                <a:latin typeface="Calibri"/>
                <a:ea typeface="Calibri"/>
              </a:rPr>
              <a:t>• 25 unit tests — all passing</a:t>
            </a:r>
          </a:p>
          <a:p>
            <a:r>
              <a:rPr lang="en-US" sz="1700">
                <a:solidFill>
                  <a:srgbClr val="1A3A5C"/>
                </a:solidFill>
                <a:latin typeface="Calibri"/>
                <a:ea typeface="Calibri"/>
              </a:rPr>
              <a:t>• SECURITY.md + PRIVACY.md + README.md</a:t>
            </a:r>
          </a:p>
          <a:p>
            <a:r>
              <a:rPr lang="en-US" sz="1700">
                <a:solidFill>
                  <a:srgbClr val="1A3A5C"/>
                </a:solidFill>
                <a:latin typeface="Calibri"/>
                <a:ea typeface="Calibri"/>
              </a:rPr>
              <a:t>• Deployed to GitHub: github.com/hardikraval-collab/IBM_PR_1</a:t>
            </a:r>
          </a:p>
        </p:txBody>
      </p:sp>
      <p:sp>
        <p:nvSpPr>
          <p:cNvPr id="100130" name="IBMImpact"/>
          <p:cNvSpPr txBox="1"/>
          <p:nvPr/>
        </p:nvSpPr>
        <p:spPr>
          <a:xfrm>
            <a:off x="6120000" y="1080000"/>
            <a:ext cx="5713200" cy="4320000"/>
          </a:xfrm>
          <a:prstGeom prst="rect">
            <a:avLst/>
          </a:prstGeom>
          <a:solidFill>
            <a:srgbClr val="1A3A5C"/>
          </a:solidFill>
        </p:spPr>
        <p:txBody>
          <a:bodyPr/>
          <a:lstStyle/>
          <a:p>
            <a:r>
              <a:rPr lang="en-US" sz="1700">
                <a:solidFill>
                  <a:srgbClr val="FFFFFF"/>
                </a:solidFill>
                <a:latin typeface="Calibri"/>
                <a:ea typeface="Calibri"/>
              </a:rPr>
              <a:t>IBM Technologies Used</a:t>
            </a:r>
          </a:p>
          <a:p>
            <a:endParaRPr lang="en-US" sz="1700">
              <a:solidFill>
                <a:srgbClr val="FFFFFF"/>
              </a:solidFill>
              <a:latin typeface="Calibri"/>
              <a:ea typeface="Calibri"/>
            </a:endParaRPr>
          </a:p>
          <a:p>
            <a:r>
              <a:rPr lang="en-US" sz="1700">
                <a:solidFill>
                  <a:srgbClr val="FFFFFF"/>
                </a:solidFill>
                <a:latin typeface="Calibri"/>
                <a:ea typeface="Calibri"/>
              </a:rPr>
              <a:t>IBM Bob</a:t>
            </a:r>
          </a:p>
          <a:p>
            <a:r>
              <a:rPr lang="en-US" sz="1700">
                <a:solidFill>
                  <a:srgbClr val="FFFFFF"/>
                </a:solidFill>
                <a:latin typeface="Calibri"/>
                <a:ea typeface="Calibri"/>
              </a:rPr>
              <a:t>→ AI coding assistant throughout all SDLC phases</a:t>
            </a:r>
          </a:p>
          <a:p>
            <a:endParaRPr lang="en-US" sz="1700">
              <a:solidFill>
                <a:srgbClr val="FFFFFF"/>
              </a:solidFill>
              <a:latin typeface="Calibri"/>
              <a:ea typeface="Calibri"/>
            </a:endParaRPr>
          </a:p>
          <a:p>
            <a:r>
              <a:rPr lang="en-US" sz="1700">
                <a:solidFill>
                  <a:srgbClr val="FFFFFF"/>
                </a:solidFill>
                <a:latin typeface="Calibri"/>
                <a:ea typeface="Calibri"/>
              </a:rPr>
              <a:t>IBM Granite LLM</a:t>
            </a:r>
          </a:p>
          <a:p>
            <a:r>
              <a:rPr lang="en-US" sz="1700">
                <a:solidFill>
                  <a:srgbClr val="FFFFFF"/>
                </a:solidFill>
                <a:latin typeface="Calibri"/>
                <a:ea typeface="Calibri"/>
              </a:rPr>
              <a:t>→ Integrated in code via ibm-watsonx-ai SDK</a:t>
            </a:r>
          </a:p>
          <a:p>
            <a:r>
              <a:rPr lang="en-US" sz="1700">
                <a:solidFill>
                  <a:srgbClr val="FFFFFF"/>
                </a:solidFill>
                <a:latin typeface="Calibri"/>
                <a:ea typeface="Calibri"/>
              </a:rPr>
              <a:t>→ Awaiting live credentials for full activation</a:t>
            </a:r>
          </a:p>
          <a:p>
            <a:endParaRPr lang="en-US" sz="1700">
              <a:solidFill>
                <a:srgbClr val="FFFFFF"/>
              </a:solidFill>
              <a:latin typeface="Calibri"/>
              <a:ea typeface="Calibri"/>
            </a:endParaRPr>
          </a:p>
          <a:p>
            <a:r>
              <a:rPr lang="en-US" sz="1700">
                <a:solidFill>
                  <a:srgbClr val="FFFFFF"/>
                </a:solidFill>
                <a:latin typeface="Calibri"/>
                <a:ea typeface="Calibri"/>
              </a:rPr>
              <a:t>IBM WatsonX.ai</a:t>
            </a:r>
          </a:p>
          <a:p>
            <a:r>
              <a:rPr lang="en-US" sz="1700">
                <a:solidFill>
                  <a:srgbClr val="FFFFFF"/>
                </a:solidFill>
                <a:latin typeface="Calibri"/>
                <a:ea typeface="Calibri"/>
              </a:rPr>
              <a:t>→ Target LLM inference platform</a:t>
            </a:r>
          </a:p>
          <a:p>
            <a:endParaRPr lang="en-US" sz="1700">
              <a:solidFill>
                <a:srgbClr val="FFFFFF"/>
              </a:solidFill>
              <a:latin typeface="Calibri"/>
              <a:ea typeface="Calibri"/>
            </a:endParaRPr>
          </a:p>
          <a:p>
            <a:r>
              <a:rPr lang="en-US" sz="1700">
                <a:solidFill>
                  <a:srgbClr val="FFFFFF"/>
                </a:solidFill>
                <a:latin typeface="Calibri"/>
                <a:ea typeface="Calibri"/>
              </a:rPr>
              <a:t>IBM Cloud</a:t>
            </a:r>
          </a:p>
          <a:p>
            <a:r>
              <a:rPr lang="en-US" sz="1700">
                <a:solidFill>
                  <a:srgbClr val="FFFFFF"/>
                </a:solidFill>
                <a:latin typeface="Calibri"/>
                <a:ea typeface="Calibri"/>
              </a:rPr>
              <a:t>→ Deployment architecture designed</a:t>
            </a:r>
          </a:p>
          <a:p>
            <a:r>
              <a:rPr lang="en-US" sz="1700">
                <a:solidFill>
                  <a:srgbClr val="FFFFFF"/>
                </a:solidFill>
                <a:latin typeface="Calibri"/>
                <a:ea typeface="Calibri"/>
              </a:rPr>
              <a:t>→ Code Engine + Container Registry + Secrets Manager</a:t>
            </a:r>
          </a:p>
        </p:txBody>
      </p:sp>
      <p:sp>
        <p:nvSpPr>
          <p:cNvPr id="100131" name="Footer"/>
          <p:cNvSpPr txBox="1"/>
          <p:nvPr/>
        </p:nvSpPr>
        <p:spPr>
          <a:xfrm>
            <a:off x="0" y="6408000"/>
            <a:ext cx="12193200" cy="432000"/>
          </a:xfrm>
          <a:prstGeom prst="rect">
            <a:avLst/>
          </a:prstGeom>
          <a:solidFill>
            <a:srgbClr val="1A3A5C"/>
          </a:solidFill>
        </p:spPr>
        <p:txBody>
          <a:bodyPr/>
          <a:lstStyle/>
          <a:p>
            <a:r>
              <a:rPr lang="en-US" sz="1200">
                <a:solidFill>
                  <a:srgbClr val="AECDE8"/>
                </a:solidFill>
                <a:latin typeface="Calibri"/>
                <a:ea typeface="Calibri"/>
              </a:rPr>
              <a:t>Slide 24 of 25</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1A3A5C"/>
        </a:solidFill>
        <a:effectLst/>
      </p:bgPr>
    </p:bg>
    <p:spTree>
      <p:nvGrpSpPr>
        <p:cNvPr id="1" name=""/>
        <p:cNvGrpSpPr/>
        <p:nvPr/>
      </p:nvGrpSpPr>
      <p:grpSpPr>
        <a:xfrm>
          <a:off x="0" y="0"/>
          <a:ext cx="0" cy="0"/>
          <a:chOff x="0" y="0"/>
          <a:chExt cx="0" cy="0"/>
        </a:xfrm>
      </p:grpSpPr>
      <p:sp>
        <p:nvSpPr>
          <p:cNvPr id="100132" name="TopBar"/>
          <p:cNvSpPr txBox="1"/>
          <p:nvPr/>
        </p:nvSpPr>
        <p:spPr>
          <a:xfrm>
            <a:off x="0" y="0"/>
            <a:ext cx="12193200" cy="180000"/>
          </a:xfrm>
          <a:prstGeom prst="rect">
            <a:avLst/>
          </a:prstGeom>
          <a:solidFill>
            <a:srgbClr val="F4A300"/>
          </a:solidFill>
        </p:spPr>
        <p:txBody>
          <a:bodyPr/>
          <a:lstStyle/>
          <a:p>
            <a:endParaRPr lang="en-US" sz="800">
              <a:solidFill>
                <a:srgbClr val="F4A300"/>
              </a:solidFill>
            </a:endParaRPr>
          </a:p>
        </p:txBody>
      </p:sp>
      <p:sp>
        <p:nvSpPr>
          <p:cNvPr id="100133" name="ThankYou"/>
          <p:cNvSpPr txBox="1"/>
          <p:nvPr/>
        </p:nvSpPr>
        <p:spPr>
          <a:xfrm>
            <a:off x="720000" y="1440000"/>
            <a:ext cx="10753200" cy="1080000"/>
          </a:xfrm>
          <a:prstGeom prst="rect">
            <a:avLst/>
          </a:prstGeom>
        </p:spPr>
        <p:txBody>
          <a:bodyPr/>
          <a:lstStyle/>
          <a:p>
            <a:r>
              <a:rPr lang="en-US" sz="5600" b="1">
                <a:solidFill>
                  <a:srgbClr val="FFFFFF"/>
                </a:solidFill>
                <a:latin typeface="Calibri"/>
                <a:ea typeface="Calibri"/>
              </a:rPr>
              <a:t>Thank You</a:t>
            </a:r>
          </a:p>
        </p:txBody>
      </p:sp>
      <p:sp>
        <p:nvSpPr>
          <p:cNvPr id="100134" name="Questions"/>
          <p:cNvSpPr txBox="1"/>
          <p:nvPr/>
        </p:nvSpPr>
        <p:spPr>
          <a:xfrm>
            <a:off x="720000" y="2700000"/>
            <a:ext cx="10753200" cy="540000"/>
          </a:xfrm>
          <a:prstGeom prst="rect">
            <a:avLst/>
          </a:prstGeom>
        </p:spPr>
        <p:txBody>
          <a:bodyPr/>
          <a:lstStyle/>
          <a:p>
            <a:r>
              <a:rPr lang="en-US" sz="3000">
                <a:solidFill>
                  <a:srgbClr val="F4A300"/>
                </a:solidFill>
                <a:latin typeface="Calibri"/>
                <a:ea typeface="Calibri"/>
              </a:rPr>
              <a:t>Questions &amp; Discussion</a:t>
            </a:r>
          </a:p>
        </p:txBody>
      </p:sp>
      <p:sp>
        <p:nvSpPr>
          <p:cNvPr id="100135" name="Links"/>
          <p:cNvSpPr txBox="1"/>
          <p:nvPr/>
        </p:nvSpPr>
        <p:spPr>
          <a:xfrm>
            <a:off x="720000" y="3600000"/>
            <a:ext cx="10753200" cy="1080000"/>
          </a:xfrm>
          <a:prstGeom prst="rect">
            <a:avLst/>
          </a:prstGeom>
        </p:spPr>
        <p:txBody>
          <a:bodyPr/>
          <a:lstStyle/>
          <a:p>
            <a:r>
              <a:rPr lang="en-US" sz="1800">
                <a:solidFill>
                  <a:srgbClr val="E8F4FD"/>
                </a:solidFill>
                <a:latin typeface="Calibri"/>
                <a:ea typeface="Calibri"/>
              </a:rPr>
              <a:t>Try the app:          run_project.bat  →  http://localhost:8000</a:t>
            </a:r>
          </a:p>
          <a:p>
            <a:r>
              <a:rPr lang="en-US" sz="1800">
                <a:solidFill>
                  <a:srgbClr val="E8F4FD"/>
                </a:solidFill>
                <a:latin typeface="Calibri"/>
                <a:ea typeface="Calibri"/>
              </a:rPr>
              <a:t>API documentation:  http://localhost:8000/api/docs</a:t>
            </a:r>
          </a:p>
          <a:p>
            <a:r>
              <a:rPr lang="en-US" sz="1800">
                <a:solidFill>
                  <a:srgbClr val="E8F4FD"/>
                </a:solidFill>
                <a:latin typeface="Calibri"/>
                <a:ea typeface="Calibri"/>
              </a:rPr>
              <a:t>GitHub repository:  github.com/hardikraval-collab/IBM_PR_1</a:t>
            </a:r>
          </a:p>
        </p:txBody>
      </p:sp>
      <p:sp>
        <p:nvSpPr>
          <p:cNvPr id="100136" name="Powered"/>
          <p:cNvSpPr txBox="1"/>
          <p:nvPr/>
        </p:nvSpPr>
        <p:spPr>
          <a:xfrm>
            <a:off x="720000" y="5040000"/>
            <a:ext cx="10753200" cy="432000"/>
          </a:xfrm>
          <a:prstGeom prst="rect">
            <a:avLst/>
          </a:prstGeom>
        </p:spPr>
        <p:txBody>
          <a:bodyPr/>
          <a:lstStyle/>
          <a:p>
            <a:r>
              <a:rPr lang="en-US" sz="1600">
                <a:solidFill>
                  <a:srgbClr val="AECDE8"/>
                </a:solidFill>
                <a:latin typeface="Calibri"/>
                <a:ea typeface="Calibri"/>
              </a:rPr>
              <a:t>Powered by  IBM Granite LLM  ·  IBM WatsonX.ai  ·  IBM Bob  ·  ChromaDB  ·  FastAPI</a:t>
            </a:r>
          </a:p>
        </p:txBody>
      </p:sp>
      <p:sp>
        <p:nvSpPr>
          <p:cNvPr id="100137" name="Disclaimer"/>
          <p:cNvSpPr txBox="1"/>
          <p:nvPr/>
        </p:nvSpPr>
        <p:spPr>
          <a:xfrm>
            <a:off x="720000" y="5580000"/>
            <a:ext cx="10753200" cy="360000"/>
          </a:xfrm>
          <a:prstGeom prst="rect">
            <a:avLst/>
          </a:prstGeom>
        </p:spPr>
        <p:txBody>
          <a:bodyPr/>
          <a:lstStyle/>
          <a:p>
            <a:r>
              <a:rPr lang="en-US" sz="1300">
                <a:solidFill>
                  <a:srgbClr val="AECDE8"/>
                </a:solidFill>
                <a:latin typeface="Calibri"/>
                <a:ea typeface="Calibri"/>
              </a:rPr>
              <a:t>Medical Disclaimer: This project is for educational purposes only. It does not constitute medical advice.</a:t>
            </a:r>
          </a:p>
        </p:txBody>
      </p:sp>
      <p:sp>
        <p:nvSpPr>
          <p:cNvPr id="100138" name="BottomBar"/>
          <p:cNvSpPr txBox="1"/>
          <p:nvPr/>
        </p:nvSpPr>
        <p:spPr>
          <a:xfrm>
            <a:off x="0" y="6408000"/>
            <a:ext cx="12193200" cy="432000"/>
          </a:xfrm>
          <a:prstGeom prst="rect">
            <a:avLst/>
          </a:prstGeom>
          <a:solidFill>
            <a:srgbClr val="0D2137"/>
          </a:solidFill>
        </p:spPr>
        <p:txBody>
          <a:bodyPr/>
          <a:lstStyle/>
          <a:p>
            <a:r>
              <a:rPr lang="en-US" sz="1400">
                <a:solidFill>
                  <a:srgbClr val="AECDE8"/>
                </a:solidFill>
                <a:latin typeface="Calibri"/>
                <a:ea typeface="Calibri"/>
              </a:rPr>
              <a:t>DIP Diet RAG Agent  |  IBM Bob Hackathon 2025  |  Slide 25 of 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majorFont>
      <a:minorFont>
        <a:latin typeface="Calibri"/>
        <a:ea typeface=""/>
        <a:cs typeface=""/>
      </a:minorFont>
    </a:fontScheme>
    <a:fmtScheme name="Office">
      <a:fillStyleLst>
        <a:solidFill>
          <a:schemeClr val="phClr"/>
        </a:solidFill>
        <a:solidFill>
          <a:schemeClr val="phClr"/>
        </a:solidFill>
        <a:solidFill>
          <a:schemeClr val="phClr"/>
        </a:solidFill>
      </a:fillStyleLst>
      <a:lnStyleLst>
        <a:ln w="6350" cap="flat">
          <a:solidFill>
            <a:schemeClr val="phClr"/>
          </a:solidFill>
        </a:ln>
        <a:ln w="12700" cap="flat">
          <a:solidFill>
            <a:schemeClr val="phClr"/>
          </a:solidFill>
        </a:ln>
        <a:ln w="19050" cap="flat">
          <a:solidFill>
            <a:schemeClr val="phClr"/>
          </a:solidFill>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majorFont>
      <a:minorFont>
        <a:latin typeface="Calibri"/>
        <a:ea typeface=""/>
        <a:cs typeface=""/>
      </a:minorFont>
    </a:fontScheme>
    <a:fmtScheme name="Office">
      <a:fillStyleLst>
        <a:solidFill>
          <a:schemeClr val="phClr"/>
        </a:solidFill>
        <a:solidFill>
          <a:schemeClr val="phClr"/>
        </a:solidFill>
        <a:solidFill>
          <a:schemeClr val="phClr"/>
        </a:solidFill>
      </a:fillStyleLst>
      <a:lnStyleLst>
        <a:ln w="6350" cap="flat">
          <a:solidFill>
            <a:schemeClr val="phClr"/>
          </a:solidFill>
        </a:ln>
        <a:ln w="12700" cap="flat">
          <a:solidFill>
            <a:schemeClr val="phClr"/>
          </a:solidFill>
        </a:ln>
        <a:ln w="19050" cap="flat">
          <a:solidFill>
            <a:schemeClr val="phClr"/>
          </a:solidFill>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5773</Words>
  <Application>Microsoft Office PowerPoint</Application>
  <PresentationFormat>Widescreen</PresentationFormat>
  <Paragraphs>688</Paragraphs>
  <Slides>25</Slides>
  <Notes>25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25</vt:i4>
      </vt:variant>
    </vt:vector>
  </HeadingPairs>
  <TitlesOfParts>
    <vt:vector size="29" baseType="lpstr">
      <vt:lpstr>Arial</vt:lpstr>
      <vt:lpstr>Calibri</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OfficeCLI</dc:creator>
  <cp:lastModifiedBy>Hardik Raval</cp:lastModifiedBy>
  <cp:revision>1</cp:revision>
  <dcterms:created xsi:type="dcterms:W3CDTF">2026-10-13T19:44:25Z</dcterms:created>
  <dcterms:modified xsi:type="dcterms:W3CDTF">2026-10-13T19:52:47Z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OfficeCLI.Version">
    <vt:lpwstr>1.0.157</vt:lpwstr>
  </property>
  <property fmtid="{D5CDD505-2E9C-101B-9397-08002B2CF9AE}" pid="3" name="OfficeCLI.LastModified">
    <vt:lpwstr>2026-10-13T19:52:01Z</vt:lpwstr>
  </property>
</Properties>
</file>